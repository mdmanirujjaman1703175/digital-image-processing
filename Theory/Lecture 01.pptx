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324" y="888314"/>
            <a:ext cx="9758045" cy="799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4580" y="1838680"/>
            <a:ext cx="10087610" cy="3749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6324" y="6570319"/>
            <a:ext cx="112268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750689" y="6570319"/>
            <a:ext cx="269557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75593" y="6560894"/>
            <a:ext cx="1981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0875" y="1564937"/>
            <a:ext cx="10069830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720465" marR="5080" indent="-3708400">
              <a:lnSpc>
                <a:spcPts val="4900"/>
              </a:lnSpc>
              <a:spcBef>
                <a:spcPts val="980"/>
              </a:spcBef>
            </a:pPr>
            <a:r>
              <a:rPr sz="4400" i="1" spc="-25" dirty="0">
                <a:solidFill>
                  <a:srgbClr val="252525"/>
                </a:solidFill>
                <a:latin typeface="Times New Roman"/>
                <a:cs typeface="Times New Roman"/>
              </a:rPr>
              <a:t>Chapter</a:t>
            </a:r>
            <a:r>
              <a:rPr sz="4400" i="1" spc="-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4400" i="1" spc="-1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252525"/>
                </a:solidFill>
                <a:latin typeface="Times New Roman"/>
                <a:cs typeface="Times New Roman"/>
              </a:rPr>
              <a:t>~</a:t>
            </a:r>
            <a:r>
              <a:rPr sz="4400" i="1" spc="-1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4400" i="1" spc="-60" dirty="0">
                <a:latin typeface="Times New Roman"/>
                <a:cs typeface="Times New Roman"/>
              </a:rPr>
              <a:t>Introduction</a:t>
            </a:r>
            <a:r>
              <a:rPr sz="4400" i="1" spc="-195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to</a:t>
            </a:r>
            <a:r>
              <a:rPr sz="4400" i="1" spc="-180" dirty="0">
                <a:latin typeface="Times New Roman"/>
                <a:cs typeface="Times New Roman"/>
              </a:rPr>
              <a:t> </a:t>
            </a:r>
            <a:r>
              <a:rPr sz="4400" i="1" spc="-30" dirty="0">
                <a:latin typeface="Times New Roman"/>
                <a:cs typeface="Times New Roman"/>
              </a:rPr>
              <a:t>Digital</a:t>
            </a:r>
            <a:r>
              <a:rPr sz="4400" i="1" spc="-180" dirty="0">
                <a:latin typeface="Times New Roman"/>
                <a:cs typeface="Times New Roman"/>
              </a:rPr>
              <a:t> </a:t>
            </a:r>
            <a:r>
              <a:rPr sz="4400" i="1" spc="-10" dirty="0">
                <a:latin typeface="Times New Roman"/>
                <a:cs typeface="Times New Roman"/>
              </a:rPr>
              <a:t>Image Processing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7200" y="2963629"/>
            <a:ext cx="36576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02310" algn="l">
              <a:spcBef>
                <a:spcPts val="100"/>
              </a:spcBef>
            </a:pPr>
            <a:r>
              <a:rPr lang="en-US" sz="2000" b="1" i="1" dirty="0">
                <a:latin typeface="Times New Roman"/>
                <a:cs typeface="Times New Roman"/>
              </a:rPr>
              <a:t>        Created By</a:t>
            </a:r>
          </a:p>
          <a:p>
            <a:pPr marL="12700" marR="5080" indent="702310" algn="l">
              <a:spcBef>
                <a:spcPts val="100"/>
              </a:spcBef>
            </a:pPr>
            <a:r>
              <a:rPr sz="2000" b="1" i="1" dirty="0">
                <a:latin typeface="Times New Roman"/>
                <a:cs typeface="Times New Roman"/>
              </a:rPr>
              <a:t>S.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M.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Mahedy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Hasan </a:t>
            </a:r>
            <a:r>
              <a:rPr sz="2000" i="1" dirty="0">
                <a:latin typeface="Times New Roman"/>
                <a:cs typeface="Times New Roman"/>
              </a:rPr>
              <a:t>Assistant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30" dirty="0">
                <a:latin typeface="Times New Roman"/>
                <a:cs typeface="Times New Roman"/>
              </a:rPr>
              <a:t>Professor,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Dept.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CSE </a:t>
            </a:r>
            <a:r>
              <a:rPr sz="2000" i="1" spc="-10" dirty="0">
                <a:latin typeface="Times New Roman"/>
                <a:cs typeface="Times New Roman"/>
              </a:rPr>
              <a:t>RUET,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Rajshahi-</a:t>
            </a:r>
            <a:r>
              <a:rPr sz="2000" i="1" dirty="0">
                <a:latin typeface="Times New Roman"/>
                <a:cs typeface="Times New Roman"/>
              </a:rPr>
              <a:t>6204,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Bangladesh.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86DCF-6AF3-867F-E1AB-83DBF3F76FBF}"/>
              </a:ext>
            </a:extLst>
          </p:cNvPr>
          <p:cNvSpPr txBox="1"/>
          <p:nvPr/>
        </p:nvSpPr>
        <p:spPr>
          <a:xfrm>
            <a:off x="4471997" y="4361379"/>
            <a:ext cx="32480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by </a:t>
            </a:r>
          </a:p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Manirujjaman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Lecturer, Dept. of CSE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DIU,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Satarkul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Badda, Dhaka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3B348-3B74-9514-55D4-C1104B33D07C}"/>
              </a:ext>
            </a:extLst>
          </p:cNvPr>
          <p:cNvCxnSpPr>
            <a:cxnSpLocks/>
          </p:cNvCxnSpPr>
          <p:nvPr/>
        </p:nvCxnSpPr>
        <p:spPr>
          <a:xfrm>
            <a:off x="1220875" y="1599777"/>
            <a:ext cx="944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F2B834-8331-0306-4C57-5805F75B9F52}"/>
              </a:ext>
            </a:extLst>
          </p:cNvPr>
          <p:cNvCxnSpPr>
            <a:cxnSpLocks/>
          </p:cNvCxnSpPr>
          <p:nvPr/>
        </p:nvCxnSpPr>
        <p:spPr>
          <a:xfrm>
            <a:off x="3581400" y="2960396"/>
            <a:ext cx="4724400" cy="3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IU Logo">
            <a:extLst>
              <a:ext uri="{FF2B5EF4-FFF2-40B4-BE49-F238E27FC236}">
                <a16:creationId xmlns:a16="http://schemas.microsoft.com/office/drawing/2014/main" id="{5FD7247E-B3C0-280A-34B4-0A9709A88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413"/>
            <a:ext cx="7948982" cy="157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Digital</a:t>
            </a:r>
            <a:r>
              <a:rPr spc="-254" dirty="0"/>
              <a:t> </a:t>
            </a:r>
            <a:r>
              <a:rPr spc="-20" dirty="0"/>
              <a:t>Image</a:t>
            </a:r>
            <a:r>
              <a:rPr spc="-254" dirty="0"/>
              <a:t> </a:t>
            </a:r>
            <a:r>
              <a:rPr spc="-30" dirty="0"/>
              <a:t>Processing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692376"/>
            <a:ext cx="8794115" cy="409511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endParaRPr sz="2000">
              <a:latin typeface="Times New Roman"/>
              <a:cs typeface="Times New Roman"/>
            </a:endParaRPr>
          </a:p>
          <a:p>
            <a:pPr marL="239395" indent="-227329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endParaRPr sz="2000">
              <a:latin typeface="Times New Roman"/>
              <a:cs typeface="Times New Roman"/>
            </a:endParaRPr>
          </a:p>
          <a:p>
            <a:pPr marL="239395" indent="-227329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E38312"/>
              </a:buClr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Clr>
                <a:srgbClr val="E38312"/>
              </a:buClr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 marL="1499235" lvl="1" indent="-205104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149923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nature,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computer.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Motivation…………..</a:t>
            </a:r>
            <a:endParaRPr sz="2000">
              <a:latin typeface="Times New Roman"/>
              <a:cs typeface="Times New Roman"/>
            </a:endParaRPr>
          </a:p>
          <a:p>
            <a:pPr marL="213360" indent="-20510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Improvement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pictorial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  <a:p>
            <a:pPr marL="213360" indent="-205104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Efficient</a:t>
            </a:r>
            <a:r>
              <a:rPr sz="20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storage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44761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15" dirty="0"/>
              <a:t> </a:t>
            </a:r>
            <a:r>
              <a:rPr dirty="0"/>
              <a:t>is</a:t>
            </a:r>
            <a:r>
              <a:rPr spc="-200" dirty="0"/>
              <a:t> </a:t>
            </a:r>
            <a:r>
              <a:rPr dirty="0"/>
              <a:t>an</a:t>
            </a:r>
            <a:r>
              <a:rPr spc="-204" dirty="0"/>
              <a:t> </a:t>
            </a:r>
            <a:r>
              <a:rPr spc="-25" dirty="0"/>
              <a:t>Image?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39595"/>
            <a:ext cx="6371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Projection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3D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scene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2D plane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noting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9839" y="2298200"/>
            <a:ext cx="5399947" cy="34198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3692" y="5775756"/>
            <a:ext cx="95377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0" marR="5080" indent="-82613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21F1F"/>
                </a:solidFill>
                <a:latin typeface="Times New Roman"/>
                <a:cs typeface="Times New Roman"/>
              </a:rPr>
              <a:t>Figure:</a:t>
            </a:r>
            <a:r>
              <a:rPr sz="1600" b="1" spc="-9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An</a:t>
            </a:r>
            <a:r>
              <a:rPr sz="1600" spc="-7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example</a:t>
            </a:r>
            <a:r>
              <a:rPr sz="1600" spc="1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sz="1600" spc="-4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digital</a:t>
            </a:r>
            <a:r>
              <a:rPr sz="1600" spc="-2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image</a:t>
            </a:r>
            <a:r>
              <a:rPr sz="1600" spc="1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acquisition</a:t>
            </a:r>
            <a:r>
              <a:rPr sz="1600" spc="-2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process.</a:t>
            </a:r>
            <a:r>
              <a:rPr sz="1600" spc="-4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(a)</a:t>
            </a:r>
            <a:r>
              <a:rPr sz="1600" spc="-2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Energy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21F1F"/>
                </a:solidFill>
                <a:latin typeface="Times New Roman"/>
                <a:cs typeface="Times New Roman"/>
              </a:rPr>
              <a:t>(“illumination”)</a:t>
            </a:r>
            <a:r>
              <a:rPr sz="1600" spc="1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source.</a:t>
            </a:r>
            <a:r>
              <a:rPr sz="1600" spc="-3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(b)</a:t>
            </a:r>
            <a:r>
              <a:rPr sz="1600" spc="-10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An</a:t>
            </a:r>
            <a:r>
              <a:rPr sz="1600" spc="-4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element</a:t>
            </a:r>
            <a:r>
              <a:rPr sz="1600" spc="1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221F1F"/>
                </a:solidFill>
                <a:latin typeface="Times New Roman"/>
                <a:cs typeface="Times New Roman"/>
              </a:rPr>
              <a:t>a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scene.</a:t>
            </a:r>
            <a:r>
              <a:rPr sz="1600" spc="-3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(c)</a:t>
            </a:r>
            <a:r>
              <a:rPr sz="1600" spc="-2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Imaging system.</a:t>
            </a:r>
            <a:r>
              <a:rPr sz="1600" spc="1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(d)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Projection</a:t>
            </a:r>
            <a:r>
              <a:rPr sz="1600" spc="-2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scene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onto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image</a:t>
            </a:r>
            <a:r>
              <a:rPr sz="1600" spc="-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plane.</a:t>
            </a:r>
            <a:r>
              <a:rPr sz="1600" spc="-2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(e)</a:t>
            </a:r>
            <a:r>
              <a:rPr sz="1600" spc="-3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21F1F"/>
                </a:solidFill>
                <a:latin typeface="Times New Roman"/>
                <a:cs typeface="Times New Roman"/>
              </a:rPr>
              <a:t>Digitized</a:t>
            </a:r>
            <a:r>
              <a:rPr sz="1600" spc="-2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21F1F"/>
                </a:solidFill>
                <a:latin typeface="Times New Roman"/>
                <a:cs typeface="Times New Roman"/>
              </a:rPr>
              <a:t>image.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1203363" y="6582484"/>
            <a:ext cx="11226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44761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15" dirty="0"/>
              <a:t> </a:t>
            </a:r>
            <a:r>
              <a:rPr dirty="0"/>
              <a:t>is</a:t>
            </a:r>
            <a:r>
              <a:rPr spc="-200" dirty="0"/>
              <a:t> </a:t>
            </a:r>
            <a:r>
              <a:rPr dirty="0"/>
              <a:t>an</a:t>
            </a:r>
            <a:r>
              <a:rPr spc="-204" dirty="0"/>
              <a:t> </a:t>
            </a:r>
            <a:r>
              <a:rPr spc="-25" dirty="0"/>
              <a:t>Image?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10086975" cy="15754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11454" indent="-201295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  <a:tab pos="984885" algn="l"/>
                <a:tab pos="1292860" algn="l"/>
                <a:tab pos="1542415" algn="l"/>
                <a:tab pos="3117215" algn="l"/>
                <a:tab pos="3467735" algn="l"/>
                <a:tab pos="4660900" algn="l"/>
                <a:tab pos="5012055" algn="l"/>
                <a:tab pos="6115050" algn="l"/>
                <a:tab pos="7255509" algn="l"/>
                <a:tab pos="7703820" algn="l"/>
                <a:tab pos="8736965" algn="l"/>
                <a:tab pos="9707880" algn="l"/>
              </a:tabLst>
            </a:pP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representation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something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someone.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Examples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drawing,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painting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photograph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000">
              <a:latin typeface="Times New Roman"/>
              <a:cs typeface="Times New Roman"/>
            </a:endParaRPr>
          </a:p>
          <a:p>
            <a:pPr marL="211454" indent="-201295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may be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black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white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color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4615" y="3575303"/>
            <a:ext cx="5382768" cy="20284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84245" y="5825439"/>
            <a:ext cx="19208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Black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white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6794754" y="5825439"/>
            <a:ext cx="16446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Color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image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33178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Digital</a:t>
            </a:r>
            <a:r>
              <a:rPr spc="-235" dirty="0"/>
              <a:t> </a:t>
            </a:r>
            <a:r>
              <a:rPr spc="-2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796008"/>
            <a:ext cx="5943600" cy="29279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52400" indent="-142875">
              <a:lnSpc>
                <a:spcPct val="100000"/>
              </a:lnSpc>
              <a:spcBef>
                <a:spcPts val="1000"/>
              </a:spcBef>
              <a:buClr>
                <a:srgbClr val="E38312"/>
              </a:buClr>
              <a:buSzPct val="92857"/>
              <a:buFont typeface="Wingdings"/>
              <a:buChar char=""/>
              <a:tabLst>
                <a:tab pos="152400" algn="l"/>
              </a:tabLst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Digital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represents</a:t>
            </a:r>
            <a:r>
              <a:rPr sz="1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as-</a:t>
            </a:r>
            <a:endParaRPr sz="1400" dirty="0">
              <a:latin typeface="Times New Roman"/>
              <a:cs typeface="Times New Roman"/>
            </a:endParaRPr>
          </a:p>
          <a:p>
            <a:pPr marL="396240" lvl="1" indent="-182245">
              <a:lnSpc>
                <a:spcPct val="100000"/>
              </a:lnSpc>
              <a:spcBef>
                <a:spcPts val="900"/>
              </a:spcBef>
              <a:buClr>
                <a:srgbClr val="E38312"/>
              </a:buClr>
              <a:buFont typeface="Wingdings"/>
              <a:buChar char=""/>
              <a:tabLst>
                <a:tab pos="396240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4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dimensional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function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i="1" spc="-10" dirty="0">
                <a:latin typeface="Times New Roman"/>
                <a:cs typeface="Times New Roman"/>
              </a:rPr>
              <a:t>f(x,y).</a:t>
            </a:r>
            <a:endParaRPr sz="1400" dirty="0">
              <a:latin typeface="Times New Roman"/>
              <a:cs typeface="Times New Roman"/>
            </a:endParaRPr>
          </a:p>
          <a:p>
            <a:pPr marL="396240" lvl="1" indent="-182245">
              <a:lnSpc>
                <a:spcPct val="100000"/>
              </a:lnSpc>
              <a:spcBef>
                <a:spcPts val="1100"/>
              </a:spcBef>
              <a:buClr>
                <a:srgbClr val="E38312"/>
              </a:buClr>
              <a:buFont typeface="Wingdings"/>
              <a:buChar char=""/>
              <a:tabLst>
                <a:tab pos="396240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Where,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y are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spatial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coordinates.</a:t>
            </a:r>
            <a:endParaRPr sz="1400" dirty="0">
              <a:latin typeface="Times New Roman"/>
              <a:cs typeface="Times New Roman"/>
            </a:endParaRPr>
          </a:p>
          <a:p>
            <a:pPr marL="396875" marR="5715" lvl="1" indent="-182880">
              <a:lnSpc>
                <a:spcPct val="13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"/>
              <a:tabLst>
                <a:tab pos="39687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1400" b="1" dirty="0">
                <a:solidFill>
                  <a:srgbClr val="FF0000"/>
                </a:solidFill>
                <a:latin typeface="Times New Roman"/>
                <a:cs typeface="Times New Roman"/>
              </a:rPr>
              <a:t>amplitude</a:t>
            </a:r>
            <a:r>
              <a:rPr sz="1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1400" i="1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1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pair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coordinates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(x,y)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called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intensity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14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gray </a:t>
            </a:r>
            <a:r>
              <a:rPr sz="1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level</a:t>
            </a:r>
            <a:r>
              <a:rPr sz="1400" b="1" i="1" spc="-10" dirty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 marL="396875" marR="5080" lvl="1" indent="-182880">
              <a:lnSpc>
                <a:spcPct val="13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"/>
              <a:tabLst>
                <a:tab pos="39687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When</a:t>
            </a:r>
            <a:r>
              <a:rPr sz="14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x,</a:t>
            </a:r>
            <a:r>
              <a:rPr sz="14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sz="1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f(x,y)</a:t>
            </a:r>
            <a:r>
              <a:rPr sz="1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1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4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finite</a:t>
            </a:r>
            <a:r>
              <a:rPr sz="1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discrete</a:t>
            </a:r>
            <a:r>
              <a:rPr sz="14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quantities,</a:t>
            </a:r>
            <a:r>
              <a:rPr sz="1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14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call</a:t>
            </a:r>
            <a:r>
              <a:rPr sz="14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400" dirty="0">
              <a:latin typeface="Times New Roman"/>
              <a:cs typeface="Times New Roman"/>
            </a:endParaRPr>
          </a:p>
          <a:p>
            <a:pPr marL="396240" lvl="1" indent="-182245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Font typeface="Wingdings"/>
              <a:buChar char=""/>
              <a:tabLst>
                <a:tab pos="396240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composed</a:t>
            </a:r>
            <a:r>
              <a:rPr sz="1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finite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elements,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1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1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has</a:t>
            </a:r>
            <a:endParaRPr sz="1400" dirty="0">
              <a:latin typeface="Times New Roman"/>
              <a:cs typeface="Times New Roman"/>
            </a:endParaRPr>
          </a:p>
          <a:p>
            <a:pPr marL="396875">
              <a:lnSpc>
                <a:spcPct val="100000"/>
              </a:lnSpc>
              <a:spcBef>
                <a:spcPts val="505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particular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location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value.</a:t>
            </a:r>
            <a:r>
              <a:rPr sz="1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elements are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referred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as-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6002" y="4837938"/>
            <a:ext cx="1635125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E38312"/>
                </a:solidFill>
                <a:latin typeface="Times New Roman"/>
                <a:cs typeface="Times New Roman"/>
              </a:rPr>
              <a:t>i.</a:t>
            </a:r>
            <a:r>
              <a:rPr sz="1400" spc="450" dirty="0">
                <a:solidFill>
                  <a:srgbClr val="E38312"/>
                </a:solidFill>
                <a:latin typeface="Times New Roman"/>
                <a:cs typeface="Times New Roman"/>
              </a:rPr>
              <a:t>  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Picture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Elements</a:t>
            </a:r>
            <a:endParaRPr sz="1400" dirty="0">
              <a:latin typeface="Times New Roman"/>
              <a:cs typeface="Times New Roman"/>
            </a:endParaRPr>
          </a:p>
          <a:p>
            <a:pPr marL="12700" marR="1420495" algn="just">
              <a:lnSpc>
                <a:spcPct val="165700"/>
              </a:lnSpc>
              <a:spcBef>
                <a:spcPts val="5"/>
              </a:spcBef>
            </a:pPr>
            <a:r>
              <a:rPr sz="1400" spc="-25" dirty="0">
                <a:solidFill>
                  <a:srgbClr val="E38312"/>
                </a:solidFill>
                <a:latin typeface="Times New Roman"/>
                <a:cs typeface="Times New Roman"/>
              </a:rPr>
              <a:t>ii. </a:t>
            </a:r>
            <a:r>
              <a:rPr sz="1400" spc="-20" dirty="0">
                <a:solidFill>
                  <a:srgbClr val="E38312"/>
                </a:solidFill>
                <a:latin typeface="Times New Roman"/>
                <a:cs typeface="Times New Roman"/>
              </a:rPr>
              <a:t>iii. </a:t>
            </a:r>
            <a:r>
              <a:rPr sz="1400" spc="-25" dirty="0">
                <a:solidFill>
                  <a:srgbClr val="E38312"/>
                </a:solidFill>
                <a:latin typeface="Times New Roman"/>
                <a:cs typeface="Times New Roman"/>
              </a:rPr>
              <a:t>iv.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6814" y="5191505"/>
            <a:ext cx="1167130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Elements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Pels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Pixels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1644" y="2350918"/>
            <a:ext cx="3353648" cy="27474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72296" y="5296916"/>
            <a:ext cx="17322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image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Digital</a:t>
            </a:r>
            <a:r>
              <a:rPr spc="-265" dirty="0"/>
              <a:t> </a:t>
            </a:r>
            <a:r>
              <a:rPr spc="-45" dirty="0"/>
              <a:t>Image(Cont’d)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480" y="1816306"/>
            <a:ext cx="4662805" cy="220916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49554" indent="-201295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49554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Digital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represented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  <a:p>
            <a:pPr marL="14224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rows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columns.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000">
              <a:latin typeface="Times New Roman"/>
              <a:cs typeface="Times New Roman"/>
            </a:endParaRPr>
          </a:p>
          <a:p>
            <a:pPr marL="249554" indent="-201295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495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represented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K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bits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E38312"/>
              </a:buClr>
              <a:buFont typeface="Wingdings"/>
              <a:buChar char=""/>
            </a:pPr>
            <a:endParaRPr sz="2000">
              <a:latin typeface="Times New Roman"/>
              <a:cs typeface="Times New Roman"/>
            </a:endParaRPr>
          </a:p>
          <a:p>
            <a:pPr marL="249554" indent="-201295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495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thus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2175" baseline="28735" dirty="0">
                <a:solidFill>
                  <a:srgbClr val="FF0000"/>
                </a:solidFill>
                <a:latin typeface="Cambria Math"/>
                <a:cs typeface="Cambria Math"/>
              </a:rPr>
              <a:t>𝐾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values.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5081" y="5281676"/>
            <a:ext cx="32219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6175" marR="5080" indent="-11341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4: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Row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column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representation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image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1628" y="2110739"/>
            <a:ext cx="3630168" cy="322935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1254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Pixel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9816465" cy="15754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11454" indent="-201295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form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"Picture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Element."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known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"PEL."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smallest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element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computer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display,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whether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LCD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CRT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monitors.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000">
              <a:latin typeface="Times New Roman"/>
              <a:cs typeface="Times New Roman"/>
            </a:endParaRPr>
          </a:p>
          <a:p>
            <a:pPr marL="211454" indent="-201295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Below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formula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calculate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total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272" y="3857244"/>
            <a:ext cx="7077456" cy="5044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Gray</a:t>
            </a:r>
            <a:r>
              <a:rPr spc="-280" dirty="0"/>
              <a:t> </a:t>
            </a:r>
            <a:r>
              <a:rPr spc="-30" dirty="0"/>
              <a:t>Level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967611"/>
            <a:ext cx="10085705" cy="1424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1454" indent="-20129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value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minimum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gray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0.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gray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depends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depth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image.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E38312"/>
              </a:buClr>
              <a:buFont typeface="Wingdings"/>
              <a:buChar char=""/>
            </a:pPr>
            <a:endParaRPr sz="2000">
              <a:latin typeface="Times New Roman"/>
              <a:cs typeface="Times New Roman"/>
            </a:endParaRPr>
          </a:p>
          <a:p>
            <a:pPr marL="212090" indent="-201930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1209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example: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8-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bit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image,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gray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255.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binary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image,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only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take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value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255.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color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image,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choose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255.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32962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Bits</a:t>
            </a:r>
            <a:r>
              <a:rPr spc="-275" dirty="0"/>
              <a:t> </a:t>
            </a:r>
            <a:r>
              <a:rPr dirty="0"/>
              <a:t>Per</a:t>
            </a:r>
            <a:r>
              <a:rPr spc="-265" dirty="0"/>
              <a:t> </a:t>
            </a:r>
            <a:r>
              <a:rPr spc="-20" dirty="0"/>
              <a:t>Pixel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9897110" cy="298704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BPP</a:t>
            </a:r>
            <a:r>
              <a:rPr sz="2000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 Bits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per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 used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denote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bits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per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depends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depth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color.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000">
              <a:latin typeface="Times New Roman"/>
              <a:cs typeface="Times New Roman"/>
            </a:endParaRPr>
          </a:p>
          <a:p>
            <a:pPr marL="239395" indent="-227329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size: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size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depends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things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following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585"/>
              </a:spcBef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rows</a:t>
            </a:r>
            <a:endParaRPr sz="20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columns</a:t>
            </a:r>
            <a:endParaRPr sz="20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bits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per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pixel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1291" y="5460004"/>
            <a:ext cx="3771900" cy="342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75" dirty="0"/>
              <a:t> </a:t>
            </a:r>
            <a:r>
              <a:rPr spc="-35" dirty="0"/>
              <a:t>Processing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86002" y="1828926"/>
            <a:ext cx="9886315" cy="386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40000"/>
              </a:lnSpc>
              <a:spcBef>
                <a:spcPts val="10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 method to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convert an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 into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form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perform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some operations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on it,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order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get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enhanced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extract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useful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it.</a:t>
            </a:r>
            <a:endParaRPr sz="1800">
              <a:latin typeface="Times New Roman"/>
              <a:cs typeface="Times New Roman"/>
            </a:endParaRPr>
          </a:p>
          <a:p>
            <a:pPr marL="194945" marR="6985" indent="-182880">
              <a:lnSpc>
                <a:spcPct val="140000"/>
              </a:lnSpc>
              <a:spcBef>
                <a:spcPts val="60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8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type</a:t>
            </a:r>
            <a:r>
              <a:rPr sz="1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signal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dispensation</a:t>
            </a:r>
            <a:r>
              <a:rPr sz="18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1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input</a:t>
            </a:r>
            <a:r>
              <a:rPr sz="1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image,</a:t>
            </a:r>
            <a:r>
              <a:rPr sz="18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output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may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characteristics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associated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465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1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basically</a:t>
            </a:r>
            <a:r>
              <a:rPr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includes</a:t>
            </a:r>
            <a:r>
              <a:rPr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following</a:t>
            </a:r>
            <a:r>
              <a:rPr sz="1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three</a:t>
            </a:r>
            <a:r>
              <a:rPr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steps-</a:t>
            </a:r>
            <a:endParaRPr sz="1800">
              <a:latin typeface="Times New Roman"/>
              <a:cs typeface="Times New Roman"/>
            </a:endParaRPr>
          </a:p>
          <a:p>
            <a:pPr marL="725805" lvl="1" indent="-457200">
              <a:lnSpc>
                <a:spcPct val="100000"/>
              </a:lnSpc>
              <a:spcBef>
                <a:spcPts val="1465"/>
              </a:spcBef>
              <a:buClr>
                <a:srgbClr val="E38312"/>
              </a:buClr>
              <a:buAutoNum type="arabicPeriod"/>
              <a:tabLst>
                <a:tab pos="72580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Importing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via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acquisition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tool.</a:t>
            </a:r>
            <a:endParaRPr sz="1800">
              <a:latin typeface="Times New Roman"/>
              <a:cs typeface="Times New Roman"/>
            </a:endParaRPr>
          </a:p>
          <a:p>
            <a:pPr marL="725805" lvl="1" indent="-457200">
              <a:lnSpc>
                <a:spcPct val="100000"/>
              </a:lnSpc>
              <a:spcBef>
                <a:spcPts val="1465"/>
              </a:spcBef>
              <a:buClr>
                <a:srgbClr val="E38312"/>
              </a:buClr>
              <a:buAutoNum type="arabicPeriod"/>
              <a:tabLst>
                <a:tab pos="72580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Analyzing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manipulating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  <a:p>
            <a:pPr marL="725805" marR="7620" lvl="1" indent="-457200">
              <a:lnSpc>
                <a:spcPct val="140000"/>
              </a:lnSpc>
              <a:spcBef>
                <a:spcPts val="600"/>
              </a:spcBef>
              <a:buClr>
                <a:srgbClr val="E38312"/>
              </a:buClr>
              <a:buAutoNum type="arabicPeriod"/>
              <a:tabLst>
                <a:tab pos="72580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Output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last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stage</a:t>
            </a:r>
            <a:r>
              <a:rPr sz="18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result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1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spc="2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altered</a:t>
            </a:r>
            <a:r>
              <a:rPr sz="18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report</a:t>
            </a:r>
            <a:r>
              <a:rPr sz="18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8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 analysis.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Purpose</a:t>
            </a:r>
            <a:r>
              <a:rPr spc="-240" dirty="0"/>
              <a:t> </a:t>
            </a:r>
            <a:r>
              <a:rPr dirty="0"/>
              <a:t>of</a:t>
            </a:r>
            <a:r>
              <a:rPr spc="-220" dirty="0"/>
              <a:t> </a:t>
            </a:r>
            <a:r>
              <a:rPr spc="-20" dirty="0"/>
              <a:t>Image</a:t>
            </a:r>
            <a:r>
              <a:rPr spc="-235" dirty="0"/>
              <a:t> </a:t>
            </a:r>
            <a:r>
              <a:rPr spc="-30" dirty="0"/>
              <a:t>Processing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86002" y="1959990"/>
            <a:ext cx="6019165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purpose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divided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groups-</a:t>
            </a:r>
            <a:endParaRPr sz="18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Visualization-</a:t>
            </a:r>
            <a:r>
              <a:rPr sz="18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Observe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objects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visible.</a:t>
            </a:r>
            <a:endParaRPr sz="18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sharpening</a:t>
            </a:r>
            <a:r>
              <a:rPr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restoration-</a:t>
            </a:r>
            <a:r>
              <a:rPr sz="18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create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retrieval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Seek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interest.</a:t>
            </a:r>
            <a:endParaRPr sz="18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Measurement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pattern-</a:t>
            </a:r>
            <a:r>
              <a:rPr sz="18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Measures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various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objects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5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recognition-</a:t>
            </a:r>
            <a:r>
              <a:rPr sz="1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Distinguish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objects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Level</a:t>
            </a:r>
            <a:r>
              <a:rPr spc="-220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spc="-40" dirty="0"/>
              <a:t>Processing</a:t>
            </a:r>
            <a:r>
              <a:rPr spc="-220" dirty="0"/>
              <a:t> </a:t>
            </a:r>
            <a:r>
              <a:rPr dirty="0"/>
              <a:t>in</a:t>
            </a:r>
            <a:r>
              <a:rPr spc="-195" dirty="0"/>
              <a:t> </a:t>
            </a:r>
            <a:r>
              <a:rPr spc="-25" dirty="0"/>
              <a:t>DIP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9973310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continuum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computer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vision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broken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up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low-,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mid-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high-level</a:t>
            </a:r>
            <a:r>
              <a:rPr sz="20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processes.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8904" y="2927604"/>
            <a:ext cx="2588260" cy="3733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9"/>
              </a:spcBef>
            </a:pPr>
            <a:r>
              <a:rPr sz="1800" b="1" dirty="0">
                <a:latin typeface="Times New Roman"/>
                <a:cs typeface="Times New Roman"/>
              </a:rPr>
              <a:t>Low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Level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8904" y="3300984"/>
            <a:ext cx="2588260" cy="2123440"/>
          </a:xfrm>
          <a:custGeom>
            <a:avLst/>
            <a:gdLst/>
            <a:ahLst/>
            <a:cxnLst/>
            <a:rect l="l" t="t" r="r" b="b"/>
            <a:pathLst>
              <a:path w="2588260" h="2123440">
                <a:moveTo>
                  <a:pt x="2587751" y="0"/>
                </a:moveTo>
                <a:lnTo>
                  <a:pt x="0" y="0"/>
                </a:lnTo>
                <a:lnTo>
                  <a:pt x="0" y="2122931"/>
                </a:lnTo>
                <a:lnTo>
                  <a:pt x="2587751" y="2122931"/>
                </a:lnTo>
                <a:lnTo>
                  <a:pt x="2587751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98904" y="3300984"/>
            <a:ext cx="2588260" cy="2123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9"/>
              </a:spcBef>
            </a:pPr>
            <a:r>
              <a:rPr sz="1800" b="1" dirty="0">
                <a:latin typeface="Times New Roman"/>
                <a:cs typeface="Times New Roman"/>
              </a:rPr>
              <a:t>Input: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Output: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  <a:p>
            <a:pPr marL="90805" marR="86995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Examples: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Noise </a:t>
            </a:r>
            <a:r>
              <a:rPr sz="1800" dirty="0">
                <a:latin typeface="Times New Roman"/>
                <a:cs typeface="Times New Roman"/>
              </a:rPr>
              <a:t>removal,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 sharpening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7635" y="2927604"/>
            <a:ext cx="2588260" cy="3733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09"/>
              </a:spcBef>
            </a:pPr>
            <a:r>
              <a:rPr sz="1800" b="1" dirty="0">
                <a:latin typeface="Times New Roman"/>
                <a:cs typeface="Times New Roman"/>
              </a:rPr>
              <a:t>Mid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Level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7635" y="3300984"/>
            <a:ext cx="2588260" cy="2123440"/>
          </a:xfrm>
          <a:custGeom>
            <a:avLst/>
            <a:gdLst/>
            <a:ahLst/>
            <a:cxnLst/>
            <a:rect l="l" t="t" r="r" b="b"/>
            <a:pathLst>
              <a:path w="2588259" h="2123440">
                <a:moveTo>
                  <a:pt x="2587752" y="0"/>
                </a:moveTo>
                <a:lnTo>
                  <a:pt x="0" y="0"/>
                </a:lnTo>
                <a:lnTo>
                  <a:pt x="0" y="2122931"/>
                </a:lnTo>
                <a:lnTo>
                  <a:pt x="2587752" y="2122931"/>
                </a:lnTo>
                <a:lnTo>
                  <a:pt x="2587752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07635" y="3300984"/>
            <a:ext cx="2588260" cy="2123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09"/>
              </a:spcBef>
            </a:pPr>
            <a:r>
              <a:rPr sz="1800" b="1" dirty="0">
                <a:latin typeface="Times New Roman"/>
                <a:cs typeface="Times New Roman"/>
              </a:rPr>
              <a:t>Input: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Output: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Attributes</a:t>
            </a:r>
            <a:endParaRPr sz="1800">
              <a:latin typeface="Times New Roman"/>
              <a:cs typeface="Times New Roman"/>
            </a:endParaRPr>
          </a:p>
          <a:p>
            <a:pPr marL="92710" marR="11303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Examples: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Object </a:t>
            </a:r>
            <a:r>
              <a:rPr sz="1800" dirty="0">
                <a:latin typeface="Times New Roman"/>
                <a:cs typeface="Times New Roman"/>
              </a:rPr>
              <a:t>recognition,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segmentation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17892" y="2936748"/>
            <a:ext cx="2586355" cy="3733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9"/>
              </a:spcBef>
            </a:pPr>
            <a:r>
              <a:rPr sz="1800" b="1" dirty="0">
                <a:latin typeface="Times New Roman"/>
                <a:cs typeface="Times New Roman"/>
              </a:rPr>
              <a:t>High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Level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17892" y="3310128"/>
            <a:ext cx="2586355" cy="2123440"/>
          </a:xfrm>
          <a:custGeom>
            <a:avLst/>
            <a:gdLst/>
            <a:ahLst/>
            <a:cxnLst/>
            <a:rect l="l" t="t" r="r" b="b"/>
            <a:pathLst>
              <a:path w="2586354" h="2123440">
                <a:moveTo>
                  <a:pt x="2586228" y="0"/>
                </a:moveTo>
                <a:lnTo>
                  <a:pt x="0" y="0"/>
                </a:lnTo>
                <a:lnTo>
                  <a:pt x="0" y="2122932"/>
                </a:lnTo>
                <a:lnTo>
                  <a:pt x="2586228" y="2122932"/>
                </a:lnTo>
                <a:lnTo>
                  <a:pt x="2586228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17892" y="3310128"/>
            <a:ext cx="2586355" cy="21234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800" b="1" dirty="0">
                <a:latin typeface="Times New Roman"/>
                <a:cs typeface="Times New Roman"/>
              </a:rPr>
              <a:t>Input: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Attributes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Output: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Understanding</a:t>
            </a:r>
            <a:endParaRPr sz="1800">
              <a:latin typeface="Times New Roman"/>
              <a:cs typeface="Times New Roman"/>
            </a:endParaRPr>
          </a:p>
          <a:p>
            <a:pPr marL="92075" marR="34417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Examples: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Scene </a:t>
            </a:r>
            <a:r>
              <a:rPr sz="1800" spc="-10" dirty="0">
                <a:latin typeface="Times New Roman"/>
                <a:cs typeface="Times New Roman"/>
              </a:rPr>
              <a:t>understanding, </a:t>
            </a:r>
            <a:r>
              <a:rPr sz="1800" dirty="0">
                <a:latin typeface="Times New Roman"/>
                <a:cs typeface="Times New Roman"/>
              </a:rPr>
              <a:t>autonomous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navigation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60823" y="5744057"/>
            <a:ext cx="288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this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course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we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will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stop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here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84542" y="2772917"/>
            <a:ext cx="45720" cy="2781300"/>
          </a:xfrm>
          <a:custGeom>
            <a:avLst/>
            <a:gdLst/>
            <a:ahLst/>
            <a:cxnLst/>
            <a:rect l="l" t="t" r="r" b="b"/>
            <a:pathLst>
              <a:path w="45720" h="2781300">
                <a:moveTo>
                  <a:pt x="0" y="0"/>
                </a:moveTo>
                <a:lnTo>
                  <a:pt x="45719" y="2781300"/>
                </a:lnTo>
              </a:path>
            </a:pathLst>
          </a:custGeom>
          <a:ln w="381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54" dirty="0"/>
              <a:t> </a:t>
            </a:r>
            <a:r>
              <a:rPr spc="-40" dirty="0"/>
              <a:t>Processing</a:t>
            </a:r>
            <a:r>
              <a:rPr spc="-260" dirty="0"/>
              <a:t> </a:t>
            </a:r>
            <a:r>
              <a:rPr spc="-35" dirty="0"/>
              <a:t>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5127" y="3601211"/>
            <a:ext cx="1347470" cy="574675"/>
          </a:xfrm>
          <a:prstGeom prst="rect">
            <a:avLst/>
          </a:prstGeom>
          <a:solidFill>
            <a:srgbClr val="E38312"/>
          </a:solidFill>
          <a:ln w="15239">
            <a:solidFill>
              <a:srgbClr val="A75F09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Radiation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93820" y="1961388"/>
            <a:ext cx="1394460" cy="612775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127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5823" y="3355847"/>
            <a:ext cx="1396365" cy="949960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34315" marR="226695" indent="-1270" algn="ctr">
              <a:lnSpc>
                <a:spcPct val="100000"/>
              </a:lnSpc>
              <a:spcBef>
                <a:spcPts val="440"/>
              </a:spcBef>
            </a:pP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Self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Luminous Object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2964" y="5141976"/>
            <a:ext cx="1394460" cy="612775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9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Transmissive</a:t>
            </a:r>
            <a:endParaRPr sz="1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8464" y="3355847"/>
            <a:ext cx="1396365" cy="949960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38735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Sensor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52344" y="2229611"/>
            <a:ext cx="1159510" cy="3256915"/>
          </a:xfrm>
          <a:custGeom>
            <a:avLst/>
            <a:gdLst/>
            <a:ahLst/>
            <a:cxnLst/>
            <a:rect l="l" t="t" r="r" b="b"/>
            <a:pathLst>
              <a:path w="1159510" h="3256915">
                <a:moveTo>
                  <a:pt x="1159510" y="1659636"/>
                </a:moveTo>
                <a:lnTo>
                  <a:pt x="1146810" y="1653286"/>
                </a:lnTo>
                <a:lnTo>
                  <a:pt x="1083310" y="1621536"/>
                </a:lnTo>
                <a:lnTo>
                  <a:pt x="1083310" y="1653286"/>
                </a:lnTo>
                <a:lnTo>
                  <a:pt x="578485" y="1653286"/>
                </a:lnTo>
                <a:lnTo>
                  <a:pt x="576707" y="1653286"/>
                </a:lnTo>
                <a:lnTo>
                  <a:pt x="576707" y="1653159"/>
                </a:lnTo>
                <a:lnTo>
                  <a:pt x="576707" y="44450"/>
                </a:lnTo>
                <a:lnTo>
                  <a:pt x="1064387" y="44450"/>
                </a:lnTo>
                <a:lnTo>
                  <a:pt x="1064387" y="76200"/>
                </a:lnTo>
                <a:lnTo>
                  <a:pt x="1127887" y="44450"/>
                </a:lnTo>
                <a:lnTo>
                  <a:pt x="1140587" y="38100"/>
                </a:lnTo>
                <a:lnTo>
                  <a:pt x="1127887" y="31750"/>
                </a:lnTo>
                <a:lnTo>
                  <a:pt x="1064387" y="0"/>
                </a:lnTo>
                <a:lnTo>
                  <a:pt x="1064387" y="31750"/>
                </a:lnTo>
                <a:lnTo>
                  <a:pt x="566801" y="31750"/>
                </a:lnTo>
                <a:lnTo>
                  <a:pt x="564007" y="34544"/>
                </a:lnTo>
                <a:lnTo>
                  <a:pt x="564007" y="1653159"/>
                </a:lnTo>
                <a:lnTo>
                  <a:pt x="0" y="1653159"/>
                </a:lnTo>
                <a:lnTo>
                  <a:pt x="0" y="1653286"/>
                </a:lnTo>
                <a:lnTo>
                  <a:pt x="0" y="1665859"/>
                </a:lnTo>
                <a:lnTo>
                  <a:pt x="0" y="1665986"/>
                </a:lnTo>
                <a:lnTo>
                  <a:pt x="568706" y="1665986"/>
                </a:lnTo>
                <a:lnTo>
                  <a:pt x="568706" y="3222244"/>
                </a:lnTo>
                <a:lnTo>
                  <a:pt x="571500" y="3225165"/>
                </a:lnTo>
                <a:lnTo>
                  <a:pt x="1073912" y="3225165"/>
                </a:lnTo>
                <a:lnTo>
                  <a:pt x="1073912" y="3256915"/>
                </a:lnTo>
                <a:lnTo>
                  <a:pt x="1137412" y="3225165"/>
                </a:lnTo>
                <a:lnTo>
                  <a:pt x="1150112" y="3218815"/>
                </a:lnTo>
                <a:lnTo>
                  <a:pt x="1137412" y="3212477"/>
                </a:lnTo>
                <a:lnTo>
                  <a:pt x="1073912" y="3180715"/>
                </a:lnTo>
                <a:lnTo>
                  <a:pt x="1073912" y="3212477"/>
                </a:lnTo>
                <a:lnTo>
                  <a:pt x="581406" y="3212477"/>
                </a:lnTo>
                <a:lnTo>
                  <a:pt x="581406" y="1665986"/>
                </a:lnTo>
                <a:lnTo>
                  <a:pt x="1083310" y="1665986"/>
                </a:lnTo>
                <a:lnTo>
                  <a:pt x="1083310" y="1697736"/>
                </a:lnTo>
                <a:lnTo>
                  <a:pt x="1146810" y="1665986"/>
                </a:lnTo>
                <a:lnTo>
                  <a:pt x="1159510" y="1659636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21808" y="3791711"/>
            <a:ext cx="678180" cy="76200"/>
          </a:xfrm>
          <a:custGeom>
            <a:avLst/>
            <a:gdLst/>
            <a:ahLst/>
            <a:cxnLst/>
            <a:rect l="l" t="t" r="r" b="b"/>
            <a:pathLst>
              <a:path w="678179" h="76200">
                <a:moveTo>
                  <a:pt x="601852" y="0"/>
                </a:moveTo>
                <a:lnTo>
                  <a:pt x="601852" y="76200"/>
                </a:lnTo>
                <a:lnTo>
                  <a:pt x="665352" y="44450"/>
                </a:lnTo>
                <a:lnTo>
                  <a:pt x="614552" y="44450"/>
                </a:lnTo>
                <a:lnTo>
                  <a:pt x="614552" y="31750"/>
                </a:lnTo>
                <a:lnTo>
                  <a:pt x="665352" y="31750"/>
                </a:lnTo>
                <a:lnTo>
                  <a:pt x="601852" y="0"/>
                </a:lnTo>
                <a:close/>
              </a:path>
              <a:path w="678179" h="76200">
                <a:moveTo>
                  <a:pt x="60185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01852" y="44450"/>
                </a:lnTo>
                <a:lnTo>
                  <a:pt x="601852" y="31750"/>
                </a:lnTo>
                <a:close/>
              </a:path>
              <a:path w="678179" h="76200">
                <a:moveTo>
                  <a:pt x="665352" y="31750"/>
                </a:moveTo>
                <a:lnTo>
                  <a:pt x="614552" y="31750"/>
                </a:lnTo>
                <a:lnTo>
                  <a:pt x="614552" y="44450"/>
                </a:lnTo>
                <a:lnTo>
                  <a:pt x="665352" y="44450"/>
                </a:lnTo>
                <a:lnTo>
                  <a:pt x="678052" y="38100"/>
                </a:lnTo>
                <a:lnTo>
                  <a:pt x="665352" y="3175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Types</a:t>
            </a:r>
            <a:r>
              <a:rPr spc="-185" dirty="0"/>
              <a:t> </a:t>
            </a:r>
            <a:r>
              <a:rPr dirty="0"/>
              <a:t>of</a:t>
            </a:r>
            <a:r>
              <a:rPr spc="-170" dirty="0"/>
              <a:t> </a:t>
            </a:r>
            <a:r>
              <a:rPr spc="-35" dirty="0"/>
              <a:t>Imaging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692376"/>
            <a:ext cx="5627370" cy="183515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260"/>
              </a:spcBef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sz="20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types</a:t>
            </a:r>
            <a:r>
              <a:rPr sz="20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20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different</a:t>
            </a:r>
            <a:r>
              <a:rPr sz="20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objects:</a:t>
            </a:r>
            <a:endParaRPr sz="20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Reflective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Mode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Imaging</a:t>
            </a:r>
            <a:endParaRPr sz="20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Emissive</a:t>
            </a:r>
            <a:r>
              <a:rPr sz="20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Type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Imaging</a:t>
            </a:r>
            <a:endParaRPr sz="20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Transmissive</a:t>
            </a:r>
            <a:r>
              <a:rPr sz="200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Type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Imaging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Reflective</a:t>
            </a:r>
            <a:r>
              <a:rPr spc="-260" dirty="0"/>
              <a:t> </a:t>
            </a:r>
            <a:r>
              <a:rPr dirty="0"/>
              <a:t>Mode</a:t>
            </a:r>
            <a:r>
              <a:rPr spc="-260" dirty="0"/>
              <a:t> </a:t>
            </a:r>
            <a:r>
              <a:rPr spc="-30" dirty="0"/>
              <a:t>Imaging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692376"/>
            <a:ext cx="9937750" cy="138239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11454" indent="-20129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simplest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form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imaging.</a:t>
            </a:r>
            <a:endParaRPr sz="2000" dirty="0">
              <a:latin typeface="Times New Roman"/>
              <a:cs typeface="Times New Roman"/>
            </a:endParaRPr>
          </a:p>
          <a:p>
            <a:pPr marL="211454" indent="-20129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uses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acquire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2000" dirty="0">
              <a:latin typeface="Times New Roman"/>
              <a:cs typeface="Times New Roman"/>
            </a:endParaRPr>
          </a:p>
          <a:p>
            <a:pPr marL="211454" indent="-20129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video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cameras,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cameras, and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scanners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type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sensors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capture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5668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Emissive</a:t>
            </a:r>
            <a:r>
              <a:rPr spc="-235" dirty="0"/>
              <a:t> </a:t>
            </a:r>
            <a:r>
              <a:rPr spc="-110" dirty="0"/>
              <a:t>Type</a:t>
            </a:r>
            <a:r>
              <a:rPr spc="-135" dirty="0"/>
              <a:t> </a:t>
            </a:r>
            <a:r>
              <a:rPr spc="-20" dirty="0"/>
              <a:t>Imaging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86002" y="1959990"/>
            <a:ext cx="8460740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acquired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self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luminous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objects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without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help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radiation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source.</a:t>
            </a:r>
            <a:endParaRPr sz="18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type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imaging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objects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self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luminous.</a:t>
            </a:r>
            <a:endParaRPr sz="18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radiation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emitted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object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directly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captured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form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Thermal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imaging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(Magnetic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Resonance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Imaging)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example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emissive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type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imaging.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6635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Transmissive</a:t>
            </a:r>
            <a:r>
              <a:rPr spc="-229" dirty="0"/>
              <a:t> </a:t>
            </a:r>
            <a:r>
              <a:rPr spc="-110" dirty="0"/>
              <a:t>Type</a:t>
            </a:r>
            <a:r>
              <a:rPr spc="-180" dirty="0"/>
              <a:t> </a:t>
            </a:r>
            <a:r>
              <a:rPr spc="-10" dirty="0"/>
              <a:t>Imaging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86002" y="1959990"/>
            <a:ext cx="776287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radiation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source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illuminates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object.</a:t>
            </a:r>
            <a:endParaRPr sz="18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absorption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radiation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objects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depends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upon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nature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material.</a:t>
            </a:r>
            <a:endParaRPr sz="18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radiation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passes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objects.</a:t>
            </a:r>
            <a:endParaRPr sz="18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attenuated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radiation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sensed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19494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Examples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X-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Ray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imaging,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ultrasound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imaging,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microscopic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imaging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etc.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Challenges</a:t>
            </a:r>
            <a:r>
              <a:rPr spc="-245" dirty="0"/>
              <a:t> </a:t>
            </a:r>
            <a:r>
              <a:rPr dirty="0"/>
              <a:t>in</a:t>
            </a:r>
            <a:r>
              <a:rPr spc="-204" dirty="0"/>
              <a:t> </a:t>
            </a:r>
            <a:r>
              <a:rPr spc="-20" dirty="0"/>
              <a:t>Image</a:t>
            </a:r>
            <a:r>
              <a:rPr spc="-220" dirty="0"/>
              <a:t> </a:t>
            </a:r>
            <a:r>
              <a:rPr spc="-30" dirty="0"/>
              <a:t>Processing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542033" y="1915795"/>
            <a:ext cx="9628505" cy="3774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7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17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major</a:t>
            </a:r>
            <a:r>
              <a:rPr sz="17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challenge</a:t>
            </a:r>
            <a:r>
              <a:rPr sz="17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17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17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17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7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7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acquire</a:t>
            </a:r>
            <a:endParaRPr sz="17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7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17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7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imes New Roman"/>
                <a:cs typeface="Times New Roman"/>
              </a:rPr>
              <a:t>further</a:t>
            </a:r>
            <a:r>
              <a:rPr sz="17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processing.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sz="17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types</a:t>
            </a:r>
            <a:r>
              <a:rPr sz="17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r>
              <a:rPr sz="17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there:</a:t>
            </a:r>
            <a:endParaRPr sz="1700" dirty="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30000"/>
              </a:lnSpc>
              <a:spcBef>
                <a:spcPts val="600"/>
              </a:spcBef>
              <a:buClr>
                <a:srgbClr val="E38312"/>
              </a:buClr>
              <a:buAutoNum type="arabicPeriod"/>
              <a:tabLst>
                <a:tab pos="469265" algn="l"/>
              </a:tabLst>
            </a:pP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Optical</a:t>
            </a:r>
            <a:r>
              <a:rPr sz="17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700" b="1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processing:</a:t>
            </a:r>
            <a:r>
              <a:rPr sz="1700" b="1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7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study</a:t>
            </a:r>
            <a:r>
              <a:rPr sz="17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radiation</a:t>
            </a:r>
            <a:r>
              <a:rPr sz="17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source,</a:t>
            </a:r>
            <a:r>
              <a:rPr sz="17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object</a:t>
            </a:r>
            <a:r>
              <a:rPr sz="17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7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other</a:t>
            </a:r>
            <a:r>
              <a:rPr sz="17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optical</a:t>
            </a:r>
            <a:r>
              <a:rPr sz="17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processes involved.</a:t>
            </a:r>
            <a:endParaRPr sz="1700" dirty="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30000"/>
              </a:lnSpc>
              <a:spcBef>
                <a:spcPts val="605"/>
              </a:spcBef>
              <a:buClr>
                <a:srgbClr val="E38312"/>
              </a:buClr>
              <a:buAutoNum type="arabicPeriod"/>
              <a:tabLst>
                <a:tab pos="469265" algn="l"/>
              </a:tabLst>
            </a:pP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Analog</a:t>
            </a:r>
            <a:r>
              <a:rPr sz="1700" b="1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700" b="1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processing:</a:t>
            </a:r>
            <a:r>
              <a:rPr sz="1700" b="1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7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7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area</a:t>
            </a:r>
            <a:r>
              <a:rPr sz="17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deals</a:t>
            </a:r>
            <a:r>
              <a:rPr sz="17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7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r>
              <a:rPr sz="17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analog</a:t>
            </a:r>
            <a:r>
              <a:rPr sz="17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electrical</a:t>
            </a:r>
            <a:r>
              <a:rPr sz="17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signals</a:t>
            </a:r>
            <a:r>
              <a:rPr sz="17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using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analog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circuits.</a:t>
            </a:r>
            <a:endParaRPr sz="1700" dirty="0">
              <a:latin typeface="Times New Roman"/>
              <a:cs typeface="Times New Roman"/>
            </a:endParaRPr>
          </a:p>
          <a:p>
            <a:pPr marL="469265" marR="5715" indent="-457200">
              <a:lnSpc>
                <a:spcPct val="130000"/>
              </a:lnSpc>
              <a:spcBef>
                <a:spcPts val="600"/>
              </a:spcBef>
              <a:buClr>
                <a:srgbClr val="E38312"/>
              </a:buClr>
              <a:buAutoNum type="arabicPeriod"/>
              <a:tabLst>
                <a:tab pos="469265" algn="l"/>
              </a:tabLst>
            </a:pP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7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7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processing:</a:t>
            </a:r>
            <a:r>
              <a:rPr sz="17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area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uses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circuits,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systems,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algorithms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carry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out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r>
              <a:rPr sz="17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tasks.</a:t>
            </a:r>
            <a:endParaRPr sz="1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40" dirty="0"/>
              <a:t> </a:t>
            </a:r>
            <a:r>
              <a:rPr spc="-40" dirty="0"/>
              <a:t>Processing</a:t>
            </a:r>
            <a:r>
              <a:rPr spc="-254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30" dirty="0"/>
              <a:t>Related</a:t>
            </a:r>
            <a:r>
              <a:rPr spc="-260" dirty="0"/>
              <a:t> </a:t>
            </a:r>
            <a:r>
              <a:rPr spc="-10" dirty="0"/>
              <a:t>Fields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8220" y="3270503"/>
            <a:ext cx="2346960" cy="914400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18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Image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6920" y="1941576"/>
            <a:ext cx="1442085" cy="650875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42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Optics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6920" y="3403091"/>
            <a:ext cx="1442085" cy="650875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142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6920" y="4998720"/>
            <a:ext cx="1442085" cy="650875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25425" marR="215900" indent="222885">
              <a:lnSpc>
                <a:spcPct val="100000"/>
              </a:lnSpc>
              <a:spcBef>
                <a:spcPts val="34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Video Processing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27364" y="1941576"/>
            <a:ext cx="1442085" cy="650875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308610">
              <a:lnSpc>
                <a:spcPct val="100000"/>
              </a:lnSpc>
              <a:spcBef>
                <a:spcPts val="142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Graphics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27364" y="3403091"/>
            <a:ext cx="1442085" cy="650875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22909" marR="254635" indent="-158750">
              <a:lnSpc>
                <a:spcPct val="100000"/>
              </a:lnSpc>
              <a:spcBef>
                <a:spcPts val="34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 Vision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27364" y="4998720"/>
            <a:ext cx="1442085" cy="650875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79070" marR="172720" indent="121920">
              <a:lnSpc>
                <a:spcPct val="100000"/>
              </a:lnSpc>
              <a:spcBef>
                <a:spcPts val="34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Artificial Intelligence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68624" y="2229611"/>
            <a:ext cx="1338580" cy="3131820"/>
          </a:xfrm>
          <a:custGeom>
            <a:avLst/>
            <a:gdLst/>
            <a:ahLst/>
            <a:cxnLst/>
            <a:rect l="l" t="t" r="r" b="b"/>
            <a:pathLst>
              <a:path w="1338579" h="3131820">
                <a:moveTo>
                  <a:pt x="1338580" y="1491742"/>
                </a:moveTo>
                <a:lnTo>
                  <a:pt x="675640" y="1491742"/>
                </a:lnTo>
                <a:lnTo>
                  <a:pt x="675640" y="44450"/>
                </a:lnTo>
                <a:lnTo>
                  <a:pt x="675640" y="38100"/>
                </a:lnTo>
                <a:lnTo>
                  <a:pt x="675640" y="34544"/>
                </a:lnTo>
                <a:lnTo>
                  <a:pt x="672846" y="31750"/>
                </a:lnTo>
                <a:lnTo>
                  <a:pt x="76200" y="3175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62940" y="44450"/>
                </a:lnTo>
                <a:lnTo>
                  <a:pt x="662940" y="1491742"/>
                </a:lnTo>
                <a:lnTo>
                  <a:pt x="76200" y="1491742"/>
                </a:lnTo>
                <a:lnTo>
                  <a:pt x="76200" y="1459992"/>
                </a:lnTo>
                <a:lnTo>
                  <a:pt x="0" y="1498092"/>
                </a:lnTo>
                <a:lnTo>
                  <a:pt x="76200" y="1536192"/>
                </a:lnTo>
                <a:lnTo>
                  <a:pt x="76200" y="1504442"/>
                </a:lnTo>
                <a:lnTo>
                  <a:pt x="662940" y="1504442"/>
                </a:lnTo>
                <a:lnTo>
                  <a:pt x="662940" y="3087243"/>
                </a:lnTo>
                <a:lnTo>
                  <a:pt x="76200" y="3087243"/>
                </a:lnTo>
                <a:lnTo>
                  <a:pt x="76200" y="3055493"/>
                </a:lnTo>
                <a:lnTo>
                  <a:pt x="0" y="3093593"/>
                </a:lnTo>
                <a:lnTo>
                  <a:pt x="76200" y="3131693"/>
                </a:lnTo>
                <a:lnTo>
                  <a:pt x="76200" y="3099943"/>
                </a:lnTo>
                <a:lnTo>
                  <a:pt x="672846" y="3099943"/>
                </a:lnTo>
                <a:lnTo>
                  <a:pt x="675640" y="3097149"/>
                </a:lnTo>
                <a:lnTo>
                  <a:pt x="675640" y="3093593"/>
                </a:lnTo>
                <a:lnTo>
                  <a:pt x="675640" y="3087243"/>
                </a:lnTo>
                <a:lnTo>
                  <a:pt x="675640" y="1505585"/>
                </a:lnTo>
                <a:lnTo>
                  <a:pt x="1338580" y="1505585"/>
                </a:lnTo>
                <a:lnTo>
                  <a:pt x="1338580" y="1504442"/>
                </a:lnTo>
                <a:lnTo>
                  <a:pt x="1338580" y="1499235"/>
                </a:lnTo>
                <a:lnTo>
                  <a:pt x="1338580" y="1498092"/>
                </a:lnTo>
                <a:lnTo>
                  <a:pt x="1338580" y="1492885"/>
                </a:lnTo>
                <a:lnTo>
                  <a:pt x="1338580" y="1491742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55180" y="2229611"/>
            <a:ext cx="1472565" cy="3131820"/>
          </a:xfrm>
          <a:custGeom>
            <a:avLst/>
            <a:gdLst/>
            <a:ahLst/>
            <a:cxnLst/>
            <a:rect l="l" t="t" r="r" b="b"/>
            <a:pathLst>
              <a:path w="1472565" h="3131820">
                <a:moveTo>
                  <a:pt x="1472184" y="38100"/>
                </a:moveTo>
                <a:lnTo>
                  <a:pt x="1459484" y="31750"/>
                </a:lnTo>
                <a:lnTo>
                  <a:pt x="1395984" y="0"/>
                </a:lnTo>
                <a:lnTo>
                  <a:pt x="1395984" y="31750"/>
                </a:lnTo>
                <a:lnTo>
                  <a:pt x="732536" y="31750"/>
                </a:lnTo>
                <a:lnTo>
                  <a:pt x="729742" y="34544"/>
                </a:lnTo>
                <a:lnTo>
                  <a:pt x="729742" y="1491742"/>
                </a:lnTo>
                <a:lnTo>
                  <a:pt x="0" y="1491742"/>
                </a:lnTo>
                <a:lnTo>
                  <a:pt x="0" y="1492885"/>
                </a:lnTo>
                <a:lnTo>
                  <a:pt x="0" y="1504442"/>
                </a:lnTo>
                <a:lnTo>
                  <a:pt x="0" y="1505585"/>
                </a:lnTo>
                <a:lnTo>
                  <a:pt x="729742" y="1505585"/>
                </a:lnTo>
                <a:lnTo>
                  <a:pt x="729742" y="3097149"/>
                </a:lnTo>
                <a:lnTo>
                  <a:pt x="732536" y="3099943"/>
                </a:lnTo>
                <a:lnTo>
                  <a:pt x="1395984" y="3099943"/>
                </a:lnTo>
                <a:lnTo>
                  <a:pt x="1395984" y="3131693"/>
                </a:lnTo>
                <a:lnTo>
                  <a:pt x="1459484" y="3099943"/>
                </a:lnTo>
                <a:lnTo>
                  <a:pt x="1472184" y="3093593"/>
                </a:lnTo>
                <a:lnTo>
                  <a:pt x="1459484" y="3087255"/>
                </a:lnTo>
                <a:lnTo>
                  <a:pt x="1395984" y="3055493"/>
                </a:lnTo>
                <a:lnTo>
                  <a:pt x="1395984" y="3087255"/>
                </a:lnTo>
                <a:lnTo>
                  <a:pt x="742442" y="3087255"/>
                </a:lnTo>
                <a:lnTo>
                  <a:pt x="742442" y="1504442"/>
                </a:lnTo>
                <a:lnTo>
                  <a:pt x="1395984" y="1504442"/>
                </a:lnTo>
                <a:lnTo>
                  <a:pt x="1395984" y="1536192"/>
                </a:lnTo>
                <a:lnTo>
                  <a:pt x="1459484" y="1504442"/>
                </a:lnTo>
                <a:lnTo>
                  <a:pt x="1472184" y="1498092"/>
                </a:lnTo>
                <a:lnTo>
                  <a:pt x="1459484" y="1491742"/>
                </a:lnTo>
                <a:lnTo>
                  <a:pt x="1395984" y="1459992"/>
                </a:lnTo>
                <a:lnTo>
                  <a:pt x="1395984" y="1491742"/>
                </a:lnTo>
                <a:lnTo>
                  <a:pt x="742442" y="1491742"/>
                </a:lnTo>
                <a:lnTo>
                  <a:pt x="742442" y="44450"/>
                </a:lnTo>
                <a:lnTo>
                  <a:pt x="1395984" y="44450"/>
                </a:lnTo>
                <a:lnTo>
                  <a:pt x="1395984" y="76200"/>
                </a:lnTo>
                <a:lnTo>
                  <a:pt x="1459484" y="44450"/>
                </a:lnTo>
                <a:lnTo>
                  <a:pt x="1472184" y="3810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Elements</a:t>
            </a:r>
            <a:r>
              <a:rPr sz="4000" spc="-185" dirty="0"/>
              <a:t> </a:t>
            </a:r>
            <a:r>
              <a:rPr sz="4000" dirty="0"/>
              <a:t>of</a:t>
            </a:r>
            <a:r>
              <a:rPr sz="4000" spc="-165" dirty="0"/>
              <a:t> </a:t>
            </a:r>
            <a:r>
              <a:rPr sz="4000" spc="-55" dirty="0"/>
              <a:t>Digital</a:t>
            </a:r>
            <a:r>
              <a:rPr sz="4000" spc="-185" dirty="0"/>
              <a:t> </a:t>
            </a:r>
            <a:r>
              <a:rPr sz="4000" spc="-40" dirty="0"/>
              <a:t>Image</a:t>
            </a:r>
            <a:r>
              <a:rPr sz="4000" spc="-165" dirty="0"/>
              <a:t> </a:t>
            </a:r>
            <a:r>
              <a:rPr sz="4000" spc="-55" dirty="0"/>
              <a:t>Processing</a:t>
            </a:r>
            <a:r>
              <a:rPr sz="4000" spc="-185" dirty="0"/>
              <a:t> </a:t>
            </a:r>
            <a:r>
              <a:rPr sz="4000" spc="-10" dirty="0"/>
              <a:t>Systems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253228" y="1821179"/>
            <a:ext cx="1903730" cy="1318260"/>
          </a:xfrm>
          <a:prstGeom prst="rect">
            <a:avLst/>
          </a:prstGeom>
          <a:solidFill>
            <a:srgbClr val="F3B56C"/>
          </a:solidFill>
          <a:ln w="15240">
            <a:solidFill>
              <a:srgbClr val="A75F09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810"/>
              </a:spcBef>
            </a:pP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Storage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Optical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disks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Magnetic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tape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Hard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disk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4167" y="3864864"/>
            <a:ext cx="2101850" cy="1766570"/>
          </a:xfrm>
          <a:prstGeom prst="rect">
            <a:avLst/>
          </a:prstGeom>
          <a:solidFill>
            <a:srgbClr val="F3B56C"/>
          </a:solidFill>
          <a:ln w="15240">
            <a:solidFill>
              <a:srgbClr val="A75F09"/>
            </a:solidFill>
          </a:ln>
        </p:spPr>
        <p:txBody>
          <a:bodyPr vert="horz" wrap="square" lIns="0" tIns="2025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95"/>
              </a:spcBef>
            </a:pP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18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Unit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Workstation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3019" y="3864864"/>
            <a:ext cx="2101850" cy="1766570"/>
          </a:xfrm>
          <a:prstGeom prst="rect">
            <a:avLst/>
          </a:prstGeom>
          <a:solidFill>
            <a:srgbClr val="F3B56C"/>
          </a:solidFill>
          <a:ln w="15240">
            <a:solidFill>
              <a:srgbClr val="A75F09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Display</a:t>
            </a:r>
            <a:r>
              <a:rPr sz="1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Unit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7846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Monitor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Projectors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Printer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3436" y="3864864"/>
            <a:ext cx="2103120" cy="1766570"/>
          </a:xfrm>
          <a:prstGeom prst="rect">
            <a:avLst/>
          </a:prstGeom>
          <a:solidFill>
            <a:srgbClr val="F3B56C"/>
          </a:solidFill>
          <a:ln w="15240">
            <a:solidFill>
              <a:srgbClr val="A75F09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20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acquisition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equipment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7846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Scanner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Camera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Sensor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67628" y="3139439"/>
            <a:ext cx="76200" cy="725805"/>
          </a:xfrm>
          <a:custGeom>
            <a:avLst/>
            <a:gdLst/>
            <a:ahLst/>
            <a:cxnLst/>
            <a:rect l="l" t="t" r="r" b="b"/>
            <a:pathLst>
              <a:path w="76200" h="725804">
                <a:moveTo>
                  <a:pt x="31750" y="649605"/>
                </a:moveTo>
                <a:lnTo>
                  <a:pt x="0" y="649605"/>
                </a:lnTo>
                <a:lnTo>
                  <a:pt x="38100" y="725805"/>
                </a:lnTo>
                <a:lnTo>
                  <a:pt x="69850" y="662305"/>
                </a:lnTo>
                <a:lnTo>
                  <a:pt x="31750" y="662305"/>
                </a:lnTo>
                <a:lnTo>
                  <a:pt x="31750" y="649605"/>
                </a:lnTo>
                <a:close/>
              </a:path>
              <a:path w="76200" h="725804">
                <a:moveTo>
                  <a:pt x="44450" y="63500"/>
                </a:moveTo>
                <a:lnTo>
                  <a:pt x="31750" y="63500"/>
                </a:lnTo>
                <a:lnTo>
                  <a:pt x="31750" y="662305"/>
                </a:lnTo>
                <a:lnTo>
                  <a:pt x="44450" y="662305"/>
                </a:lnTo>
                <a:lnTo>
                  <a:pt x="44450" y="63500"/>
                </a:lnTo>
                <a:close/>
              </a:path>
              <a:path w="76200" h="725804">
                <a:moveTo>
                  <a:pt x="76200" y="649605"/>
                </a:moveTo>
                <a:lnTo>
                  <a:pt x="44450" y="649605"/>
                </a:lnTo>
                <a:lnTo>
                  <a:pt x="44450" y="662305"/>
                </a:lnTo>
                <a:lnTo>
                  <a:pt x="69850" y="662305"/>
                </a:lnTo>
                <a:lnTo>
                  <a:pt x="76200" y="649605"/>
                </a:lnTo>
                <a:close/>
              </a:path>
              <a:path w="76200" h="72580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72580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86555" y="4710684"/>
            <a:ext cx="1468120" cy="76200"/>
          </a:xfrm>
          <a:custGeom>
            <a:avLst/>
            <a:gdLst/>
            <a:ahLst/>
            <a:cxnLst/>
            <a:rect l="l" t="t" r="r" b="b"/>
            <a:pathLst>
              <a:path w="1468120" h="76200">
                <a:moveTo>
                  <a:pt x="1391920" y="0"/>
                </a:moveTo>
                <a:lnTo>
                  <a:pt x="1391920" y="76200"/>
                </a:lnTo>
                <a:lnTo>
                  <a:pt x="1455420" y="44450"/>
                </a:lnTo>
                <a:lnTo>
                  <a:pt x="1404620" y="44450"/>
                </a:lnTo>
                <a:lnTo>
                  <a:pt x="1404620" y="31750"/>
                </a:lnTo>
                <a:lnTo>
                  <a:pt x="1455420" y="31750"/>
                </a:lnTo>
                <a:lnTo>
                  <a:pt x="1391920" y="0"/>
                </a:lnTo>
                <a:close/>
              </a:path>
              <a:path w="1468120" h="76200">
                <a:moveTo>
                  <a:pt x="139192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391920" y="44450"/>
                </a:lnTo>
                <a:lnTo>
                  <a:pt x="1391920" y="31750"/>
                </a:lnTo>
                <a:close/>
              </a:path>
              <a:path w="1468120" h="76200">
                <a:moveTo>
                  <a:pt x="1455420" y="31750"/>
                </a:moveTo>
                <a:lnTo>
                  <a:pt x="1404620" y="31750"/>
                </a:lnTo>
                <a:lnTo>
                  <a:pt x="1404620" y="44450"/>
                </a:lnTo>
                <a:lnTo>
                  <a:pt x="1455420" y="44450"/>
                </a:lnTo>
                <a:lnTo>
                  <a:pt x="1468120" y="38100"/>
                </a:lnTo>
                <a:lnTo>
                  <a:pt x="1455420" y="3175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55764" y="4710684"/>
            <a:ext cx="1666239" cy="76200"/>
          </a:xfrm>
          <a:custGeom>
            <a:avLst/>
            <a:gdLst/>
            <a:ahLst/>
            <a:cxnLst/>
            <a:rect l="l" t="t" r="r" b="b"/>
            <a:pathLst>
              <a:path w="1666240" h="76200">
                <a:moveTo>
                  <a:pt x="1589785" y="0"/>
                </a:moveTo>
                <a:lnTo>
                  <a:pt x="1589785" y="76200"/>
                </a:lnTo>
                <a:lnTo>
                  <a:pt x="1653285" y="44450"/>
                </a:lnTo>
                <a:lnTo>
                  <a:pt x="1602485" y="44450"/>
                </a:lnTo>
                <a:lnTo>
                  <a:pt x="1602485" y="31750"/>
                </a:lnTo>
                <a:lnTo>
                  <a:pt x="1653285" y="31750"/>
                </a:lnTo>
                <a:lnTo>
                  <a:pt x="1589785" y="0"/>
                </a:lnTo>
                <a:close/>
              </a:path>
              <a:path w="1666240" h="76200">
                <a:moveTo>
                  <a:pt x="158978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589785" y="44450"/>
                </a:lnTo>
                <a:lnTo>
                  <a:pt x="1589785" y="31750"/>
                </a:lnTo>
                <a:close/>
              </a:path>
              <a:path w="1666240" h="76200">
                <a:moveTo>
                  <a:pt x="1653285" y="31750"/>
                </a:moveTo>
                <a:lnTo>
                  <a:pt x="1602485" y="31750"/>
                </a:lnTo>
                <a:lnTo>
                  <a:pt x="1602485" y="44450"/>
                </a:lnTo>
                <a:lnTo>
                  <a:pt x="1653285" y="44450"/>
                </a:lnTo>
                <a:lnTo>
                  <a:pt x="1665985" y="38100"/>
                </a:lnTo>
                <a:lnTo>
                  <a:pt x="1653285" y="3175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53127" y="5887618"/>
            <a:ext cx="2480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Communication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Channel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Fundamental</a:t>
            </a:r>
            <a:r>
              <a:rPr sz="4000" spc="-190" dirty="0"/>
              <a:t> </a:t>
            </a:r>
            <a:r>
              <a:rPr sz="4000" spc="-35" dirty="0"/>
              <a:t>Steps</a:t>
            </a:r>
            <a:r>
              <a:rPr sz="4000" spc="-180" dirty="0"/>
              <a:t> </a:t>
            </a:r>
            <a:r>
              <a:rPr sz="4000" dirty="0"/>
              <a:t>in</a:t>
            </a:r>
            <a:r>
              <a:rPr sz="4000" spc="-170" dirty="0"/>
              <a:t> </a:t>
            </a:r>
            <a:r>
              <a:rPr sz="4000" spc="-55" dirty="0"/>
              <a:t>Digital</a:t>
            </a:r>
            <a:r>
              <a:rPr sz="4000" spc="-190" dirty="0"/>
              <a:t> </a:t>
            </a:r>
            <a:r>
              <a:rPr sz="4000" spc="-40" dirty="0"/>
              <a:t>Image</a:t>
            </a:r>
            <a:r>
              <a:rPr sz="4000" spc="-165" dirty="0"/>
              <a:t> </a:t>
            </a:r>
            <a:r>
              <a:rPr sz="4000" spc="-10" dirty="0"/>
              <a:t>Processing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173" y="1908019"/>
            <a:ext cx="8639921" cy="38123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35577" y="5943396"/>
            <a:ext cx="3572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Figure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5: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Steps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processing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Image</a:t>
            </a:r>
            <a:r>
              <a:rPr spc="-335" dirty="0"/>
              <a:t> </a:t>
            </a:r>
            <a:r>
              <a:rPr spc="-40" dirty="0"/>
              <a:t>Acquisition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39595"/>
            <a:ext cx="82194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spc="-10" dirty="0">
                <a:latin typeface="Times New Roman"/>
                <a:cs typeface="Times New Roman"/>
              </a:rPr>
              <a:t>Generally,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acquisition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preprocessing,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scaling.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244" y="2388385"/>
            <a:ext cx="7956864" cy="33145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97327" y="5765088"/>
            <a:ext cx="77895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4905" marR="5080" indent="-113284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6: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example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acquisition.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Illumination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(energy)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source.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(b)</a:t>
            </a:r>
            <a:r>
              <a:rPr sz="1400" spc="-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scene.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(c)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Imaging </a:t>
            </a:r>
            <a:r>
              <a:rPr sz="1400" dirty="0">
                <a:latin typeface="Times New Roman"/>
                <a:cs typeface="Times New Roman"/>
              </a:rPr>
              <a:t>system. (d)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scene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onto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plane.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(e)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Digitized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image.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75" dirty="0"/>
              <a:t> </a:t>
            </a:r>
            <a:r>
              <a:rPr spc="-40" dirty="0"/>
              <a:t>Enhancement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6002" y="1822830"/>
            <a:ext cx="476313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5420" algn="just">
              <a:lnSpc>
                <a:spcPct val="150000"/>
              </a:lnSpc>
              <a:spcBef>
                <a:spcPts val="100"/>
              </a:spcBef>
              <a:buClr>
                <a:srgbClr val="E38312"/>
              </a:buClr>
              <a:buSzPct val="94444"/>
              <a:buFont typeface="Wingdings"/>
              <a:buChar char=""/>
              <a:tabLst>
                <a:tab pos="194945" algn="l"/>
                <a:tab pos="213995" algn="l"/>
              </a:tabLst>
            </a:pPr>
            <a:r>
              <a:rPr sz="1800" dirty="0">
                <a:latin typeface="Times New Roman"/>
                <a:cs typeface="Times New Roman"/>
              </a:rPr>
              <a:t>	Image</a:t>
            </a:r>
            <a:r>
              <a:rPr sz="1800" spc="295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enhancement</a:t>
            </a:r>
            <a:r>
              <a:rPr sz="1800" spc="295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95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95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285" dirty="0">
                <a:latin typeface="Times New Roman"/>
                <a:cs typeface="Times New Roman"/>
              </a:rPr>
              <a:t>  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manipulating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more </a:t>
            </a:r>
            <a:r>
              <a:rPr sz="1800" dirty="0">
                <a:latin typeface="Times New Roman"/>
                <a:cs typeface="Times New Roman"/>
              </a:rPr>
              <a:t>suitable</a:t>
            </a:r>
            <a:r>
              <a:rPr sz="1800" spc="4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43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original</a:t>
            </a:r>
            <a:r>
              <a:rPr sz="1800" spc="4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4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44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specific application.</a:t>
            </a:r>
            <a:endParaRPr sz="1800">
              <a:latin typeface="Times New Roman"/>
              <a:cs typeface="Times New Roman"/>
            </a:endParaRPr>
          </a:p>
          <a:p>
            <a:pPr marL="214629" indent="-204470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"/>
              <a:tabLst>
                <a:tab pos="214629" algn="l"/>
              </a:tabLst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involves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brightness,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contrast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9335" y="2037594"/>
            <a:ext cx="4106348" cy="19430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56981" y="4255134"/>
            <a:ext cx="21907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7: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enhancement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75" dirty="0"/>
              <a:t> </a:t>
            </a:r>
            <a:r>
              <a:rPr spc="-40" dirty="0"/>
              <a:t>Restoration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6002" y="1832584"/>
            <a:ext cx="4762500" cy="3881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5420" algn="just">
              <a:lnSpc>
                <a:spcPct val="140000"/>
              </a:lnSpc>
              <a:spcBef>
                <a:spcPts val="100"/>
              </a:spcBef>
              <a:buSzPct val="94117"/>
              <a:buFont typeface="Wingdings"/>
              <a:buChar char=""/>
              <a:tabLst>
                <a:tab pos="194945" algn="l"/>
                <a:tab pos="203200" algn="l"/>
              </a:tabLst>
            </a:pPr>
            <a:r>
              <a:rPr sz="1700" dirty="0">
                <a:solidFill>
                  <a:srgbClr val="E38312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latin typeface="Times New Roman"/>
                <a:cs typeface="Times New Roman"/>
              </a:rPr>
              <a:t>Image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restoration</a:t>
            </a:r>
            <a:r>
              <a:rPr sz="1700" spc="4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area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also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deals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with </a:t>
            </a:r>
            <a:r>
              <a:rPr sz="1700" dirty="0">
                <a:latin typeface="Times New Roman"/>
                <a:cs typeface="Times New Roman"/>
              </a:rPr>
              <a:t>improving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appearance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image.</a:t>
            </a:r>
            <a:endParaRPr sz="1700">
              <a:latin typeface="Times New Roman"/>
              <a:cs typeface="Times New Roman"/>
            </a:endParaRPr>
          </a:p>
          <a:p>
            <a:pPr marL="194945" marR="5080" indent="-184785" algn="just">
              <a:lnSpc>
                <a:spcPct val="140000"/>
              </a:lnSpc>
              <a:spcBef>
                <a:spcPts val="600"/>
              </a:spcBef>
              <a:buSzPct val="94117"/>
              <a:buFont typeface="Wingdings"/>
              <a:buChar char=""/>
              <a:tabLst>
                <a:tab pos="194945" algn="l"/>
                <a:tab pos="203835" algn="l"/>
              </a:tabLst>
            </a:pPr>
            <a:r>
              <a:rPr sz="1700" dirty="0">
                <a:solidFill>
                  <a:srgbClr val="E38312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latin typeface="Times New Roman"/>
                <a:cs typeface="Times New Roman"/>
              </a:rPr>
              <a:t>Unlike</a:t>
            </a:r>
            <a:r>
              <a:rPr sz="1700" spc="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enhancement,</a:t>
            </a:r>
            <a:r>
              <a:rPr sz="1700" spc="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which</a:t>
            </a:r>
            <a:r>
              <a:rPr sz="1700" spc="6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6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subjective,</a:t>
            </a:r>
            <a:r>
              <a:rPr sz="1700" spc="65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image </a:t>
            </a:r>
            <a:r>
              <a:rPr sz="1700" dirty="0">
                <a:latin typeface="Times New Roman"/>
                <a:cs typeface="Times New Roman"/>
              </a:rPr>
              <a:t>restoration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objective,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sense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restoration </a:t>
            </a:r>
            <a:r>
              <a:rPr sz="1700" dirty="0">
                <a:latin typeface="Times New Roman"/>
                <a:cs typeface="Times New Roman"/>
              </a:rPr>
              <a:t>techniques</a:t>
            </a:r>
            <a:r>
              <a:rPr sz="1700" spc="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tend</a:t>
            </a:r>
            <a:r>
              <a:rPr sz="1700" spc="4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be</a:t>
            </a:r>
            <a:r>
              <a:rPr sz="1700" spc="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based</a:t>
            </a:r>
            <a:r>
              <a:rPr sz="1700" spc="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4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mathematical</a:t>
            </a:r>
            <a:r>
              <a:rPr sz="1700" spc="35" dirty="0">
                <a:latin typeface="Times New Roman"/>
                <a:cs typeface="Times New Roman"/>
              </a:rPr>
              <a:t>  </a:t>
            </a:r>
            <a:r>
              <a:rPr sz="1700" spc="-25" dirty="0">
                <a:latin typeface="Times New Roman"/>
                <a:cs typeface="Times New Roman"/>
              </a:rPr>
              <a:t>or </a:t>
            </a:r>
            <a:r>
              <a:rPr sz="1700" dirty="0">
                <a:latin typeface="Times New Roman"/>
                <a:cs typeface="Times New Roman"/>
              </a:rPr>
              <a:t>probabilistic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models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image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degradation.</a:t>
            </a:r>
            <a:endParaRPr sz="1700">
              <a:latin typeface="Times New Roman"/>
              <a:cs typeface="Times New Roman"/>
            </a:endParaRPr>
          </a:p>
          <a:p>
            <a:pPr marL="204470" indent="-193675" algn="just">
              <a:lnSpc>
                <a:spcPct val="100000"/>
              </a:lnSpc>
              <a:spcBef>
                <a:spcPts val="1415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204470" algn="l"/>
              </a:tabLst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takes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corrupt/noisy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700">
              <a:latin typeface="Times New Roman"/>
              <a:cs typeface="Times New Roman"/>
            </a:endParaRPr>
          </a:p>
          <a:p>
            <a:pPr marL="194945" marR="5080" indent="-185420" algn="just">
              <a:lnSpc>
                <a:spcPct val="140000"/>
              </a:lnSpc>
              <a:spcBef>
                <a:spcPts val="600"/>
              </a:spcBef>
              <a:buSzPct val="94117"/>
              <a:buFont typeface="Wingdings"/>
              <a:buChar char=""/>
              <a:tabLst>
                <a:tab pos="194945" algn="l"/>
                <a:tab pos="203200" algn="l"/>
              </a:tabLst>
            </a:pPr>
            <a:r>
              <a:rPr sz="1700" dirty="0">
                <a:solidFill>
                  <a:srgbClr val="E38312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latin typeface="Times New Roman"/>
                <a:cs typeface="Times New Roman"/>
              </a:rPr>
              <a:t>Enhancement,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other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hand,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based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human </a:t>
            </a:r>
            <a:r>
              <a:rPr sz="1700" dirty="0">
                <a:latin typeface="Times New Roman"/>
                <a:cs typeface="Times New Roman"/>
              </a:rPr>
              <a:t>subjective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preferences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regarding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what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constitutes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 </a:t>
            </a:r>
            <a:r>
              <a:rPr sz="1700" dirty="0">
                <a:latin typeface="Times New Roman"/>
                <a:cs typeface="Times New Roman"/>
              </a:rPr>
              <a:t>"good"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enhancement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result.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5723" y="2292076"/>
            <a:ext cx="4158641" cy="27709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67141" y="5346572"/>
            <a:ext cx="20161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7: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restoration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5751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Color</a:t>
            </a:r>
            <a:r>
              <a:rPr spc="-260" dirty="0"/>
              <a:t> </a:t>
            </a:r>
            <a:r>
              <a:rPr spc="-20" dirty="0"/>
              <a:t>Image</a:t>
            </a:r>
            <a:r>
              <a:rPr spc="-265" dirty="0"/>
              <a:t> </a:t>
            </a:r>
            <a:r>
              <a:rPr spc="-25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1000569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latin typeface="Times New Roman"/>
                <a:cs typeface="Times New Roman"/>
              </a:rPr>
              <a:t>Color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 been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importance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significant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increase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Internet.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4121" y="3322405"/>
            <a:ext cx="4097144" cy="20235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82921" y="5589523"/>
            <a:ext cx="24549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8: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0" dirty="0">
                <a:latin typeface="Times New Roman"/>
                <a:cs typeface="Times New Roman"/>
              </a:rPr>
              <a:t> processing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Morphological</a:t>
            </a:r>
            <a:r>
              <a:rPr spc="-204" dirty="0"/>
              <a:t> </a:t>
            </a:r>
            <a:r>
              <a:rPr spc="-35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9725660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latin typeface="Times New Roman"/>
                <a:cs typeface="Times New Roman"/>
              </a:rPr>
              <a:t>Morphological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description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shape.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3028" y="3067811"/>
            <a:ext cx="4885944" cy="2438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19015" y="5743447"/>
            <a:ext cx="26282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9: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Morphological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processing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Segmentation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39595"/>
            <a:ext cx="8339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latin typeface="Times New Roman"/>
                <a:cs typeface="Times New Roman"/>
              </a:rPr>
              <a:t>Segmentation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procedures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constituent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objects.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5100" y="2720339"/>
            <a:ext cx="6858000" cy="26578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19015" y="5743447"/>
            <a:ext cx="22910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10: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segmentation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Object</a:t>
            </a:r>
            <a:r>
              <a:rPr spc="-254" dirty="0"/>
              <a:t> </a:t>
            </a:r>
            <a:r>
              <a:rPr spc="-45" dirty="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10085070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  <a:tab pos="1612900" algn="l"/>
                <a:tab pos="1911350" algn="l"/>
                <a:tab pos="2352040" algn="l"/>
                <a:tab pos="3245485" algn="l"/>
                <a:tab pos="3756025" algn="l"/>
                <a:tab pos="4620260" algn="l"/>
                <a:tab pos="4862830" algn="l"/>
                <a:tab pos="5485765" algn="l"/>
                <a:tab pos="6133465" algn="l"/>
                <a:tab pos="7287895" algn="l"/>
                <a:tab pos="7616825" algn="l"/>
                <a:tab pos="7987030" algn="l"/>
                <a:tab pos="8736965" algn="l"/>
                <a:tab pos="9446895" algn="l"/>
                <a:tab pos="9832975" algn="l"/>
              </a:tabLst>
            </a:pPr>
            <a:r>
              <a:rPr sz="2000" spc="-10" dirty="0">
                <a:latin typeface="Times New Roman"/>
                <a:cs typeface="Times New Roman"/>
              </a:rPr>
              <a:t>Recognition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process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assigns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label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(e.g.,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"vehicle")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object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based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its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Times New Roman"/>
                <a:cs typeface="Times New Roman"/>
              </a:rPr>
              <a:t>descriptors.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7629" y="6044285"/>
            <a:ext cx="21742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11: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Object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recognition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0144" y="2956560"/>
            <a:ext cx="3791711" cy="299923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75" dirty="0"/>
              <a:t> </a:t>
            </a:r>
            <a:r>
              <a:rPr spc="-40" dirty="0"/>
              <a:t>Compression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496443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5080" indent="-92710" algn="just">
              <a:lnSpc>
                <a:spcPct val="150000"/>
              </a:lnSpc>
              <a:spcBef>
                <a:spcPts val="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104139" algn="l"/>
                <a:tab pos="238760" algn="l"/>
              </a:tabLst>
            </a:pPr>
            <a:r>
              <a:rPr sz="2000" dirty="0">
                <a:latin typeface="Times New Roman"/>
                <a:cs typeface="Times New Roman"/>
              </a:rPr>
              <a:t>	Compression,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implies,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deals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with </a:t>
            </a: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reducing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save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image,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4092" y="1947672"/>
            <a:ext cx="3130296" cy="29626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54720" y="4994224"/>
            <a:ext cx="22415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14: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compression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8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Components</a:t>
            </a:r>
            <a:r>
              <a:rPr sz="4400" spc="-195" dirty="0"/>
              <a:t> </a:t>
            </a:r>
            <a:r>
              <a:rPr sz="4400" dirty="0"/>
              <a:t>of</a:t>
            </a:r>
            <a:r>
              <a:rPr sz="4400" spc="-175" dirty="0"/>
              <a:t> </a:t>
            </a:r>
            <a:r>
              <a:rPr sz="4400" dirty="0"/>
              <a:t>an</a:t>
            </a:r>
            <a:r>
              <a:rPr sz="4400" spc="-170" dirty="0"/>
              <a:t> </a:t>
            </a:r>
            <a:r>
              <a:rPr sz="4400" spc="-20" dirty="0"/>
              <a:t>Image</a:t>
            </a:r>
            <a:r>
              <a:rPr sz="4400" spc="-175" dirty="0"/>
              <a:t> </a:t>
            </a:r>
            <a:r>
              <a:rPr sz="4400" spc="-45" dirty="0"/>
              <a:t>Processing</a:t>
            </a:r>
            <a:r>
              <a:rPr sz="4400" spc="-195" dirty="0"/>
              <a:t> </a:t>
            </a:r>
            <a:r>
              <a:rPr sz="4400" spc="-10" dirty="0"/>
              <a:t>System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3003" y="2023720"/>
            <a:ext cx="3681798" cy="3741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93285" y="5976010"/>
            <a:ext cx="37655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15: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Components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processing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888314"/>
            <a:ext cx="30746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Image</a:t>
            </a:r>
            <a:r>
              <a:rPr spc="-215" dirty="0"/>
              <a:t> </a:t>
            </a:r>
            <a:r>
              <a:rPr spc="-8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7632" y="1912620"/>
            <a:ext cx="1377950" cy="365760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5328" y="2823972"/>
            <a:ext cx="1376680" cy="364490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Dimension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1459" y="2823972"/>
            <a:ext cx="1376680" cy="364490"/>
          </a:xfrm>
          <a:prstGeom prst="rect">
            <a:avLst/>
          </a:prstGeom>
          <a:solidFill>
            <a:srgbClr val="E38312"/>
          </a:solidFill>
          <a:ln w="15240">
            <a:solidFill>
              <a:srgbClr val="A75F09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Color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3311" y="2823972"/>
            <a:ext cx="1376680" cy="364490"/>
          </a:xfrm>
          <a:prstGeom prst="rect">
            <a:avLst/>
          </a:prstGeom>
          <a:solidFill>
            <a:srgbClr val="E38312"/>
          </a:solidFill>
          <a:ln w="15239">
            <a:solidFill>
              <a:srgbClr val="A75F09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Attributes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02536" y="2089149"/>
            <a:ext cx="5538470" cy="735330"/>
          </a:xfrm>
          <a:custGeom>
            <a:avLst/>
            <a:gdLst/>
            <a:ahLst/>
            <a:cxnLst/>
            <a:rect l="l" t="t" r="r" b="b"/>
            <a:pathLst>
              <a:path w="5538470" h="735330">
                <a:moveTo>
                  <a:pt x="3435223" y="0"/>
                </a:moveTo>
                <a:lnTo>
                  <a:pt x="34544" y="0"/>
                </a:lnTo>
                <a:lnTo>
                  <a:pt x="31750" y="2794"/>
                </a:lnTo>
                <a:lnTo>
                  <a:pt x="31750" y="658749"/>
                </a:lnTo>
                <a:lnTo>
                  <a:pt x="0" y="658749"/>
                </a:lnTo>
                <a:lnTo>
                  <a:pt x="38100" y="734949"/>
                </a:lnTo>
                <a:lnTo>
                  <a:pt x="69850" y="671449"/>
                </a:lnTo>
                <a:lnTo>
                  <a:pt x="76200" y="658749"/>
                </a:lnTo>
                <a:lnTo>
                  <a:pt x="44450" y="658749"/>
                </a:lnTo>
                <a:lnTo>
                  <a:pt x="44450" y="12700"/>
                </a:lnTo>
                <a:lnTo>
                  <a:pt x="3435223" y="12700"/>
                </a:lnTo>
                <a:lnTo>
                  <a:pt x="3435223" y="6350"/>
                </a:lnTo>
                <a:lnTo>
                  <a:pt x="3435223" y="0"/>
                </a:lnTo>
                <a:close/>
              </a:path>
              <a:path w="5538470" h="735330">
                <a:moveTo>
                  <a:pt x="5538343" y="659003"/>
                </a:moveTo>
                <a:lnTo>
                  <a:pt x="5506593" y="659003"/>
                </a:lnTo>
                <a:lnTo>
                  <a:pt x="5506593" y="468630"/>
                </a:lnTo>
                <a:lnTo>
                  <a:pt x="5506593" y="458724"/>
                </a:lnTo>
                <a:lnTo>
                  <a:pt x="5503799" y="455930"/>
                </a:lnTo>
                <a:lnTo>
                  <a:pt x="4130421" y="455930"/>
                </a:lnTo>
                <a:lnTo>
                  <a:pt x="4130421" y="189230"/>
                </a:lnTo>
                <a:lnTo>
                  <a:pt x="4130294" y="189230"/>
                </a:lnTo>
                <a:lnTo>
                  <a:pt x="4117721" y="189230"/>
                </a:lnTo>
                <a:lnTo>
                  <a:pt x="4117594" y="189230"/>
                </a:lnTo>
                <a:lnTo>
                  <a:pt x="4117594" y="455930"/>
                </a:lnTo>
                <a:lnTo>
                  <a:pt x="2744216" y="455930"/>
                </a:lnTo>
                <a:lnTo>
                  <a:pt x="2741422" y="458724"/>
                </a:lnTo>
                <a:lnTo>
                  <a:pt x="2741422" y="659003"/>
                </a:lnTo>
                <a:lnTo>
                  <a:pt x="2709672" y="659003"/>
                </a:lnTo>
                <a:lnTo>
                  <a:pt x="2747772" y="735203"/>
                </a:lnTo>
                <a:lnTo>
                  <a:pt x="2779522" y="671703"/>
                </a:lnTo>
                <a:lnTo>
                  <a:pt x="2785872" y="659003"/>
                </a:lnTo>
                <a:lnTo>
                  <a:pt x="2754122" y="659003"/>
                </a:lnTo>
                <a:lnTo>
                  <a:pt x="2754122" y="468630"/>
                </a:lnTo>
                <a:lnTo>
                  <a:pt x="4120388" y="468630"/>
                </a:lnTo>
                <a:lnTo>
                  <a:pt x="4127627" y="468630"/>
                </a:lnTo>
                <a:lnTo>
                  <a:pt x="5493893" y="468630"/>
                </a:lnTo>
                <a:lnTo>
                  <a:pt x="5493893" y="659003"/>
                </a:lnTo>
                <a:lnTo>
                  <a:pt x="5462143" y="659003"/>
                </a:lnTo>
                <a:lnTo>
                  <a:pt x="5500243" y="735203"/>
                </a:lnTo>
                <a:lnTo>
                  <a:pt x="5531993" y="671703"/>
                </a:lnTo>
                <a:lnTo>
                  <a:pt x="5538343" y="659003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325623" y="3387852"/>
            <a:ext cx="1137285" cy="562610"/>
            <a:chOff x="2325623" y="3387852"/>
            <a:chExt cx="1137285" cy="562610"/>
          </a:xfrm>
        </p:grpSpPr>
        <p:sp>
          <p:nvSpPr>
            <p:cNvPr id="9" name="object 9"/>
            <p:cNvSpPr/>
            <p:nvPr/>
          </p:nvSpPr>
          <p:spPr>
            <a:xfrm>
              <a:off x="2333243" y="3395472"/>
              <a:ext cx="1122045" cy="547370"/>
            </a:xfrm>
            <a:custGeom>
              <a:avLst/>
              <a:gdLst/>
              <a:ahLst/>
              <a:cxnLst/>
              <a:rect l="l" t="t" r="r" b="b"/>
              <a:pathLst>
                <a:path w="1122045" h="547370">
                  <a:moveTo>
                    <a:pt x="1030478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455929"/>
                  </a:lnTo>
                  <a:lnTo>
                    <a:pt x="7157" y="491448"/>
                  </a:lnTo>
                  <a:lnTo>
                    <a:pt x="26685" y="520430"/>
                  </a:lnTo>
                  <a:lnTo>
                    <a:pt x="55667" y="539958"/>
                  </a:lnTo>
                  <a:lnTo>
                    <a:pt x="91186" y="547115"/>
                  </a:lnTo>
                  <a:lnTo>
                    <a:pt x="1030478" y="547115"/>
                  </a:lnTo>
                  <a:lnTo>
                    <a:pt x="1065996" y="539958"/>
                  </a:lnTo>
                  <a:lnTo>
                    <a:pt x="1094978" y="520430"/>
                  </a:lnTo>
                  <a:lnTo>
                    <a:pt x="1114506" y="491448"/>
                  </a:lnTo>
                  <a:lnTo>
                    <a:pt x="1121664" y="455929"/>
                  </a:lnTo>
                  <a:lnTo>
                    <a:pt x="1121664" y="91186"/>
                  </a:lnTo>
                  <a:lnTo>
                    <a:pt x="1114506" y="55667"/>
                  </a:lnTo>
                  <a:lnTo>
                    <a:pt x="1094978" y="26685"/>
                  </a:lnTo>
                  <a:lnTo>
                    <a:pt x="1065996" y="7157"/>
                  </a:lnTo>
                  <a:lnTo>
                    <a:pt x="1030478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33243" y="3395472"/>
              <a:ext cx="1122045" cy="547370"/>
            </a:xfrm>
            <a:custGeom>
              <a:avLst/>
              <a:gdLst/>
              <a:ahLst/>
              <a:cxnLst/>
              <a:rect l="l" t="t" r="r" b="b"/>
              <a:pathLst>
                <a:path w="1122045" h="547370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1030478" y="0"/>
                  </a:lnTo>
                  <a:lnTo>
                    <a:pt x="1065996" y="7157"/>
                  </a:lnTo>
                  <a:lnTo>
                    <a:pt x="1094978" y="26685"/>
                  </a:lnTo>
                  <a:lnTo>
                    <a:pt x="1114506" y="55667"/>
                  </a:lnTo>
                  <a:lnTo>
                    <a:pt x="1121664" y="91186"/>
                  </a:lnTo>
                  <a:lnTo>
                    <a:pt x="1121664" y="455929"/>
                  </a:lnTo>
                  <a:lnTo>
                    <a:pt x="1114506" y="491448"/>
                  </a:lnTo>
                  <a:lnTo>
                    <a:pt x="1094978" y="520430"/>
                  </a:lnTo>
                  <a:lnTo>
                    <a:pt x="1065996" y="539958"/>
                  </a:lnTo>
                  <a:lnTo>
                    <a:pt x="1030478" y="547115"/>
                  </a:lnTo>
                  <a:lnTo>
                    <a:pt x="91186" y="547115"/>
                  </a:lnTo>
                  <a:lnTo>
                    <a:pt x="55667" y="539958"/>
                  </a:lnTo>
                  <a:lnTo>
                    <a:pt x="26685" y="520430"/>
                  </a:lnTo>
                  <a:lnTo>
                    <a:pt x="7157" y="491448"/>
                  </a:lnTo>
                  <a:lnTo>
                    <a:pt x="0" y="455929"/>
                  </a:lnTo>
                  <a:lnTo>
                    <a:pt x="0" y="9118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88514" y="3512311"/>
            <a:ext cx="610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Raster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25623" y="4142232"/>
            <a:ext cx="1137285" cy="561340"/>
            <a:chOff x="2325623" y="4142232"/>
            <a:chExt cx="1137285" cy="561340"/>
          </a:xfrm>
        </p:grpSpPr>
        <p:sp>
          <p:nvSpPr>
            <p:cNvPr id="13" name="object 13"/>
            <p:cNvSpPr/>
            <p:nvPr/>
          </p:nvSpPr>
          <p:spPr>
            <a:xfrm>
              <a:off x="2333243" y="4149852"/>
              <a:ext cx="1122045" cy="546100"/>
            </a:xfrm>
            <a:custGeom>
              <a:avLst/>
              <a:gdLst/>
              <a:ahLst/>
              <a:cxnLst/>
              <a:rect l="l" t="t" r="r" b="b"/>
              <a:pathLst>
                <a:path w="1122045" h="546100">
                  <a:moveTo>
                    <a:pt x="1030732" y="0"/>
                  </a:moveTo>
                  <a:lnTo>
                    <a:pt x="90931" y="0"/>
                  </a:lnTo>
                  <a:lnTo>
                    <a:pt x="55560" y="7153"/>
                  </a:lnTo>
                  <a:lnTo>
                    <a:pt x="26654" y="26654"/>
                  </a:lnTo>
                  <a:lnTo>
                    <a:pt x="7153" y="55560"/>
                  </a:lnTo>
                  <a:lnTo>
                    <a:pt x="0" y="90931"/>
                  </a:lnTo>
                  <a:lnTo>
                    <a:pt x="0" y="454660"/>
                  </a:lnTo>
                  <a:lnTo>
                    <a:pt x="7153" y="490031"/>
                  </a:lnTo>
                  <a:lnTo>
                    <a:pt x="26654" y="518937"/>
                  </a:lnTo>
                  <a:lnTo>
                    <a:pt x="55560" y="538438"/>
                  </a:lnTo>
                  <a:lnTo>
                    <a:pt x="90931" y="545592"/>
                  </a:lnTo>
                  <a:lnTo>
                    <a:pt x="1030732" y="545592"/>
                  </a:lnTo>
                  <a:lnTo>
                    <a:pt x="1066103" y="538438"/>
                  </a:lnTo>
                  <a:lnTo>
                    <a:pt x="1095009" y="518937"/>
                  </a:lnTo>
                  <a:lnTo>
                    <a:pt x="1114510" y="490031"/>
                  </a:lnTo>
                  <a:lnTo>
                    <a:pt x="1121664" y="454660"/>
                  </a:lnTo>
                  <a:lnTo>
                    <a:pt x="1121664" y="90931"/>
                  </a:lnTo>
                  <a:lnTo>
                    <a:pt x="1114510" y="55560"/>
                  </a:lnTo>
                  <a:lnTo>
                    <a:pt x="1095009" y="26654"/>
                  </a:lnTo>
                  <a:lnTo>
                    <a:pt x="1066103" y="7153"/>
                  </a:lnTo>
                  <a:lnTo>
                    <a:pt x="103073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33243" y="4149852"/>
              <a:ext cx="1122045" cy="546100"/>
            </a:xfrm>
            <a:custGeom>
              <a:avLst/>
              <a:gdLst/>
              <a:ahLst/>
              <a:cxnLst/>
              <a:rect l="l" t="t" r="r" b="b"/>
              <a:pathLst>
                <a:path w="1122045" h="546100">
                  <a:moveTo>
                    <a:pt x="0" y="90931"/>
                  </a:moveTo>
                  <a:lnTo>
                    <a:pt x="7153" y="55560"/>
                  </a:lnTo>
                  <a:lnTo>
                    <a:pt x="26654" y="26654"/>
                  </a:lnTo>
                  <a:lnTo>
                    <a:pt x="55560" y="7153"/>
                  </a:lnTo>
                  <a:lnTo>
                    <a:pt x="90931" y="0"/>
                  </a:lnTo>
                  <a:lnTo>
                    <a:pt x="1030732" y="0"/>
                  </a:lnTo>
                  <a:lnTo>
                    <a:pt x="1066103" y="7153"/>
                  </a:lnTo>
                  <a:lnTo>
                    <a:pt x="1095009" y="26654"/>
                  </a:lnTo>
                  <a:lnTo>
                    <a:pt x="1114510" y="55560"/>
                  </a:lnTo>
                  <a:lnTo>
                    <a:pt x="1121664" y="90931"/>
                  </a:lnTo>
                  <a:lnTo>
                    <a:pt x="1121664" y="454660"/>
                  </a:lnTo>
                  <a:lnTo>
                    <a:pt x="1114510" y="490031"/>
                  </a:lnTo>
                  <a:lnTo>
                    <a:pt x="1095009" y="518937"/>
                  </a:lnTo>
                  <a:lnTo>
                    <a:pt x="1066103" y="538438"/>
                  </a:lnTo>
                  <a:lnTo>
                    <a:pt x="1030732" y="545592"/>
                  </a:lnTo>
                  <a:lnTo>
                    <a:pt x="90931" y="545592"/>
                  </a:lnTo>
                  <a:lnTo>
                    <a:pt x="55560" y="538438"/>
                  </a:lnTo>
                  <a:lnTo>
                    <a:pt x="26654" y="518937"/>
                  </a:lnTo>
                  <a:lnTo>
                    <a:pt x="7153" y="490031"/>
                  </a:lnTo>
                  <a:lnTo>
                    <a:pt x="0" y="454660"/>
                  </a:lnTo>
                  <a:lnTo>
                    <a:pt x="0" y="90931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82417" y="4265498"/>
            <a:ext cx="6229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Vector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30011" y="4172711"/>
            <a:ext cx="1138555" cy="1355090"/>
            <a:chOff x="5430011" y="4172711"/>
            <a:chExt cx="1138555" cy="1355090"/>
          </a:xfrm>
        </p:grpSpPr>
        <p:sp>
          <p:nvSpPr>
            <p:cNvPr id="17" name="object 17"/>
            <p:cNvSpPr/>
            <p:nvPr/>
          </p:nvSpPr>
          <p:spPr>
            <a:xfrm>
              <a:off x="5437631" y="4974335"/>
              <a:ext cx="1123315" cy="546100"/>
            </a:xfrm>
            <a:custGeom>
              <a:avLst/>
              <a:gdLst/>
              <a:ahLst/>
              <a:cxnLst/>
              <a:rect l="l" t="t" r="r" b="b"/>
              <a:pathLst>
                <a:path w="1123315" h="546100">
                  <a:moveTo>
                    <a:pt x="1032255" y="0"/>
                  </a:moveTo>
                  <a:lnTo>
                    <a:pt x="90931" y="0"/>
                  </a:lnTo>
                  <a:lnTo>
                    <a:pt x="55560" y="7153"/>
                  </a:lnTo>
                  <a:lnTo>
                    <a:pt x="26654" y="26654"/>
                  </a:lnTo>
                  <a:lnTo>
                    <a:pt x="7153" y="55560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53" y="490031"/>
                  </a:lnTo>
                  <a:lnTo>
                    <a:pt x="26654" y="518937"/>
                  </a:lnTo>
                  <a:lnTo>
                    <a:pt x="55560" y="538438"/>
                  </a:lnTo>
                  <a:lnTo>
                    <a:pt x="90931" y="545591"/>
                  </a:lnTo>
                  <a:lnTo>
                    <a:pt x="1032255" y="545591"/>
                  </a:lnTo>
                  <a:lnTo>
                    <a:pt x="1067627" y="538438"/>
                  </a:lnTo>
                  <a:lnTo>
                    <a:pt x="1096533" y="518937"/>
                  </a:lnTo>
                  <a:lnTo>
                    <a:pt x="1116034" y="490031"/>
                  </a:lnTo>
                  <a:lnTo>
                    <a:pt x="1123188" y="454659"/>
                  </a:lnTo>
                  <a:lnTo>
                    <a:pt x="1123188" y="90931"/>
                  </a:lnTo>
                  <a:lnTo>
                    <a:pt x="1116034" y="55560"/>
                  </a:lnTo>
                  <a:lnTo>
                    <a:pt x="1096533" y="26654"/>
                  </a:lnTo>
                  <a:lnTo>
                    <a:pt x="1067627" y="7153"/>
                  </a:lnTo>
                  <a:lnTo>
                    <a:pt x="1032255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37631" y="4974335"/>
              <a:ext cx="1123315" cy="546100"/>
            </a:xfrm>
            <a:custGeom>
              <a:avLst/>
              <a:gdLst/>
              <a:ahLst/>
              <a:cxnLst/>
              <a:rect l="l" t="t" r="r" b="b"/>
              <a:pathLst>
                <a:path w="1123315" h="546100">
                  <a:moveTo>
                    <a:pt x="0" y="90931"/>
                  </a:moveTo>
                  <a:lnTo>
                    <a:pt x="7153" y="55560"/>
                  </a:lnTo>
                  <a:lnTo>
                    <a:pt x="26654" y="26654"/>
                  </a:lnTo>
                  <a:lnTo>
                    <a:pt x="55560" y="7153"/>
                  </a:lnTo>
                  <a:lnTo>
                    <a:pt x="90931" y="0"/>
                  </a:lnTo>
                  <a:lnTo>
                    <a:pt x="1032255" y="0"/>
                  </a:lnTo>
                  <a:lnTo>
                    <a:pt x="1067627" y="7153"/>
                  </a:lnTo>
                  <a:lnTo>
                    <a:pt x="1096533" y="26654"/>
                  </a:lnTo>
                  <a:lnTo>
                    <a:pt x="1116034" y="55560"/>
                  </a:lnTo>
                  <a:lnTo>
                    <a:pt x="1123188" y="90931"/>
                  </a:lnTo>
                  <a:lnTo>
                    <a:pt x="1123188" y="454659"/>
                  </a:lnTo>
                  <a:lnTo>
                    <a:pt x="1116034" y="490031"/>
                  </a:lnTo>
                  <a:lnTo>
                    <a:pt x="1096533" y="518937"/>
                  </a:lnTo>
                  <a:lnTo>
                    <a:pt x="1067627" y="538438"/>
                  </a:lnTo>
                  <a:lnTo>
                    <a:pt x="1032255" y="545591"/>
                  </a:lnTo>
                  <a:lnTo>
                    <a:pt x="90931" y="545591"/>
                  </a:lnTo>
                  <a:lnTo>
                    <a:pt x="55560" y="538438"/>
                  </a:lnTo>
                  <a:lnTo>
                    <a:pt x="26654" y="518937"/>
                  </a:lnTo>
                  <a:lnTo>
                    <a:pt x="7153" y="490031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37631" y="4180331"/>
              <a:ext cx="1123315" cy="547370"/>
            </a:xfrm>
            <a:custGeom>
              <a:avLst/>
              <a:gdLst/>
              <a:ahLst/>
              <a:cxnLst/>
              <a:rect l="l" t="t" r="r" b="b"/>
              <a:pathLst>
                <a:path w="1123315" h="547370">
                  <a:moveTo>
                    <a:pt x="1032001" y="0"/>
                  </a:moveTo>
                  <a:lnTo>
                    <a:pt x="91185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455930"/>
                  </a:lnTo>
                  <a:lnTo>
                    <a:pt x="7157" y="491448"/>
                  </a:lnTo>
                  <a:lnTo>
                    <a:pt x="26685" y="520430"/>
                  </a:lnTo>
                  <a:lnTo>
                    <a:pt x="55667" y="539958"/>
                  </a:lnTo>
                  <a:lnTo>
                    <a:pt x="91185" y="547116"/>
                  </a:lnTo>
                  <a:lnTo>
                    <a:pt x="1032001" y="547116"/>
                  </a:lnTo>
                  <a:lnTo>
                    <a:pt x="1067520" y="539958"/>
                  </a:lnTo>
                  <a:lnTo>
                    <a:pt x="1096502" y="520430"/>
                  </a:lnTo>
                  <a:lnTo>
                    <a:pt x="1116030" y="491448"/>
                  </a:lnTo>
                  <a:lnTo>
                    <a:pt x="1123188" y="455930"/>
                  </a:lnTo>
                  <a:lnTo>
                    <a:pt x="1123188" y="91186"/>
                  </a:lnTo>
                  <a:lnTo>
                    <a:pt x="1116030" y="55667"/>
                  </a:lnTo>
                  <a:lnTo>
                    <a:pt x="1096502" y="26685"/>
                  </a:lnTo>
                  <a:lnTo>
                    <a:pt x="1067520" y="7157"/>
                  </a:lnTo>
                  <a:lnTo>
                    <a:pt x="1032001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37631" y="4180331"/>
              <a:ext cx="1123315" cy="547370"/>
            </a:xfrm>
            <a:custGeom>
              <a:avLst/>
              <a:gdLst/>
              <a:ahLst/>
              <a:cxnLst/>
              <a:rect l="l" t="t" r="r" b="b"/>
              <a:pathLst>
                <a:path w="1123315" h="547370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5" y="0"/>
                  </a:lnTo>
                  <a:lnTo>
                    <a:pt x="1032001" y="0"/>
                  </a:lnTo>
                  <a:lnTo>
                    <a:pt x="1067520" y="7157"/>
                  </a:lnTo>
                  <a:lnTo>
                    <a:pt x="1096502" y="26685"/>
                  </a:lnTo>
                  <a:lnTo>
                    <a:pt x="1116030" y="55667"/>
                  </a:lnTo>
                  <a:lnTo>
                    <a:pt x="1123188" y="91186"/>
                  </a:lnTo>
                  <a:lnTo>
                    <a:pt x="1123188" y="455930"/>
                  </a:lnTo>
                  <a:lnTo>
                    <a:pt x="1116030" y="491448"/>
                  </a:lnTo>
                  <a:lnTo>
                    <a:pt x="1096502" y="520430"/>
                  </a:lnTo>
                  <a:lnTo>
                    <a:pt x="1067520" y="539958"/>
                  </a:lnTo>
                  <a:lnTo>
                    <a:pt x="1032001" y="547116"/>
                  </a:lnTo>
                  <a:lnTo>
                    <a:pt x="91185" y="547116"/>
                  </a:lnTo>
                  <a:lnTo>
                    <a:pt x="55667" y="539958"/>
                  </a:lnTo>
                  <a:lnTo>
                    <a:pt x="26685" y="520430"/>
                  </a:lnTo>
                  <a:lnTo>
                    <a:pt x="7157" y="491448"/>
                  </a:lnTo>
                  <a:lnTo>
                    <a:pt x="0" y="455930"/>
                  </a:lnTo>
                  <a:lnTo>
                    <a:pt x="0" y="9118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56275" y="4159453"/>
            <a:ext cx="484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Gray</a:t>
            </a:r>
            <a:endParaRPr sz="1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scale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30011" y="3361944"/>
            <a:ext cx="1138555" cy="562610"/>
            <a:chOff x="5430011" y="3361944"/>
            <a:chExt cx="1138555" cy="562610"/>
          </a:xfrm>
        </p:grpSpPr>
        <p:sp>
          <p:nvSpPr>
            <p:cNvPr id="23" name="object 23"/>
            <p:cNvSpPr/>
            <p:nvPr/>
          </p:nvSpPr>
          <p:spPr>
            <a:xfrm>
              <a:off x="5437631" y="3369564"/>
              <a:ext cx="1123315" cy="547370"/>
            </a:xfrm>
            <a:custGeom>
              <a:avLst/>
              <a:gdLst/>
              <a:ahLst/>
              <a:cxnLst/>
              <a:rect l="l" t="t" r="r" b="b"/>
              <a:pathLst>
                <a:path w="1123315" h="547370">
                  <a:moveTo>
                    <a:pt x="1032001" y="0"/>
                  </a:moveTo>
                  <a:lnTo>
                    <a:pt x="91185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455930"/>
                  </a:lnTo>
                  <a:lnTo>
                    <a:pt x="7157" y="491448"/>
                  </a:lnTo>
                  <a:lnTo>
                    <a:pt x="26685" y="520430"/>
                  </a:lnTo>
                  <a:lnTo>
                    <a:pt x="55667" y="539958"/>
                  </a:lnTo>
                  <a:lnTo>
                    <a:pt x="91185" y="547116"/>
                  </a:lnTo>
                  <a:lnTo>
                    <a:pt x="1032001" y="547116"/>
                  </a:lnTo>
                  <a:lnTo>
                    <a:pt x="1067520" y="539958"/>
                  </a:lnTo>
                  <a:lnTo>
                    <a:pt x="1096502" y="520430"/>
                  </a:lnTo>
                  <a:lnTo>
                    <a:pt x="1116030" y="491448"/>
                  </a:lnTo>
                  <a:lnTo>
                    <a:pt x="1123188" y="455930"/>
                  </a:lnTo>
                  <a:lnTo>
                    <a:pt x="1123188" y="91186"/>
                  </a:lnTo>
                  <a:lnTo>
                    <a:pt x="1116030" y="55667"/>
                  </a:lnTo>
                  <a:lnTo>
                    <a:pt x="1096502" y="26685"/>
                  </a:lnTo>
                  <a:lnTo>
                    <a:pt x="1067520" y="7157"/>
                  </a:lnTo>
                  <a:lnTo>
                    <a:pt x="1032001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37631" y="3369564"/>
              <a:ext cx="1123315" cy="547370"/>
            </a:xfrm>
            <a:custGeom>
              <a:avLst/>
              <a:gdLst/>
              <a:ahLst/>
              <a:cxnLst/>
              <a:rect l="l" t="t" r="r" b="b"/>
              <a:pathLst>
                <a:path w="1123315" h="547370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5" y="0"/>
                  </a:lnTo>
                  <a:lnTo>
                    <a:pt x="1032001" y="0"/>
                  </a:lnTo>
                  <a:lnTo>
                    <a:pt x="1067520" y="7157"/>
                  </a:lnTo>
                  <a:lnTo>
                    <a:pt x="1096502" y="26685"/>
                  </a:lnTo>
                  <a:lnTo>
                    <a:pt x="1116030" y="55667"/>
                  </a:lnTo>
                  <a:lnTo>
                    <a:pt x="1123188" y="91186"/>
                  </a:lnTo>
                  <a:lnTo>
                    <a:pt x="1123188" y="455930"/>
                  </a:lnTo>
                  <a:lnTo>
                    <a:pt x="1116030" y="491448"/>
                  </a:lnTo>
                  <a:lnTo>
                    <a:pt x="1096502" y="520430"/>
                  </a:lnTo>
                  <a:lnTo>
                    <a:pt x="1067520" y="539958"/>
                  </a:lnTo>
                  <a:lnTo>
                    <a:pt x="1032001" y="547116"/>
                  </a:lnTo>
                  <a:lnTo>
                    <a:pt x="91185" y="547116"/>
                  </a:lnTo>
                  <a:lnTo>
                    <a:pt x="55667" y="539958"/>
                  </a:lnTo>
                  <a:lnTo>
                    <a:pt x="26685" y="520430"/>
                  </a:lnTo>
                  <a:lnTo>
                    <a:pt x="7157" y="491448"/>
                  </a:lnTo>
                  <a:lnTo>
                    <a:pt x="0" y="455930"/>
                  </a:lnTo>
                  <a:lnTo>
                    <a:pt x="0" y="9118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673978" y="3486657"/>
            <a:ext cx="64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Binary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30011" y="5750052"/>
            <a:ext cx="1138555" cy="561340"/>
            <a:chOff x="5430011" y="5750052"/>
            <a:chExt cx="1138555" cy="561340"/>
          </a:xfrm>
        </p:grpSpPr>
        <p:sp>
          <p:nvSpPr>
            <p:cNvPr id="27" name="object 27"/>
            <p:cNvSpPr/>
            <p:nvPr/>
          </p:nvSpPr>
          <p:spPr>
            <a:xfrm>
              <a:off x="5437631" y="5757672"/>
              <a:ext cx="1123315" cy="546100"/>
            </a:xfrm>
            <a:custGeom>
              <a:avLst/>
              <a:gdLst/>
              <a:ahLst/>
              <a:cxnLst/>
              <a:rect l="l" t="t" r="r" b="b"/>
              <a:pathLst>
                <a:path w="1123315" h="546100">
                  <a:moveTo>
                    <a:pt x="1032255" y="0"/>
                  </a:moveTo>
                  <a:lnTo>
                    <a:pt x="90931" y="0"/>
                  </a:lnTo>
                  <a:lnTo>
                    <a:pt x="55560" y="7146"/>
                  </a:lnTo>
                  <a:lnTo>
                    <a:pt x="26654" y="26635"/>
                  </a:lnTo>
                  <a:lnTo>
                    <a:pt x="7153" y="55539"/>
                  </a:lnTo>
                  <a:lnTo>
                    <a:pt x="0" y="90931"/>
                  </a:lnTo>
                  <a:lnTo>
                    <a:pt x="0" y="454659"/>
                  </a:lnTo>
                  <a:lnTo>
                    <a:pt x="7153" y="490052"/>
                  </a:lnTo>
                  <a:lnTo>
                    <a:pt x="26654" y="518956"/>
                  </a:lnTo>
                  <a:lnTo>
                    <a:pt x="55560" y="538445"/>
                  </a:lnTo>
                  <a:lnTo>
                    <a:pt x="90931" y="545591"/>
                  </a:lnTo>
                  <a:lnTo>
                    <a:pt x="1032255" y="545591"/>
                  </a:lnTo>
                  <a:lnTo>
                    <a:pt x="1067627" y="538445"/>
                  </a:lnTo>
                  <a:lnTo>
                    <a:pt x="1096533" y="518956"/>
                  </a:lnTo>
                  <a:lnTo>
                    <a:pt x="1116034" y="490052"/>
                  </a:lnTo>
                  <a:lnTo>
                    <a:pt x="1123188" y="454659"/>
                  </a:lnTo>
                  <a:lnTo>
                    <a:pt x="1123188" y="90931"/>
                  </a:lnTo>
                  <a:lnTo>
                    <a:pt x="1116034" y="55539"/>
                  </a:lnTo>
                  <a:lnTo>
                    <a:pt x="1096533" y="26635"/>
                  </a:lnTo>
                  <a:lnTo>
                    <a:pt x="1067627" y="7146"/>
                  </a:lnTo>
                  <a:lnTo>
                    <a:pt x="1032255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37631" y="5757672"/>
              <a:ext cx="1123315" cy="546100"/>
            </a:xfrm>
            <a:custGeom>
              <a:avLst/>
              <a:gdLst/>
              <a:ahLst/>
              <a:cxnLst/>
              <a:rect l="l" t="t" r="r" b="b"/>
              <a:pathLst>
                <a:path w="1123315" h="546100">
                  <a:moveTo>
                    <a:pt x="0" y="90931"/>
                  </a:moveTo>
                  <a:lnTo>
                    <a:pt x="7153" y="55539"/>
                  </a:lnTo>
                  <a:lnTo>
                    <a:pt x="26654" y="26635"/>
                  </a:lnTo>
                  <a:lnTo>
                    <a:pt x="55560" y="7146"/>
                  </a:lnTo>
                  <a:lnTo>
                    <a:pt x="90931" y="0"/>
                  </a:lnTo>
                  <a:lnTo>
                    <a:pt x="1032255" y="0"/>
                  </a:lnTo>
                  <a:lnTo>
                    <a:pt x="1067627" y="7146"/>
                  </a:lnTo>
                  <a:lnTo>
                    <a:pt x="1096533" y="26635"/>
                  </a:lnTo>
                  <a:lnTo>
                    <a:pt x="1116034" y="55539"/>
                  </a:lnTo>
                  <a:lnTo>
                    <a:pt x="1123188" y="90931"/>
                  </a:lnTo>
                  <a:lnTo>
                    <a:pt x="1123188" y="454659"/>
                  </a:lnTo>
                  <a:lnTo>
                    <a:pt x="1116034" y="490052"/>
                  </a:lnTo>
                  <a:lnTo>
                    <a:pt x="1096533" y="518956"/>
                  </a:lnTo>
                  <a:lnTo>
                    <a:pt x="1067627" y="538445"/>
                  </a:lnTo>
                  <a:lnTo>
                    <a:pt x="1032255" y="545591"/>
                  </a:lnTo>
                  <a:lnTo>
                    <a:pt x="90931" y="545591"/>
                  </a:lnTo>
                  <a:lnTo>
                    <a:pt x="55560" y="538445"/>
                  </a:lnTo>
                  <a:lnTo>
                    <a:pt x="26654" y="518956"/>
                  </a:lnTo>
                  <a:lnTo>
                    <a:pt x="7153" y="490052"/>
                  </a:lnTo>
                  <a:lnTo>
                    <a:pt x="0" y="454659"/>
                  </a:lnTo>
                  <a:lnTo>
                    <a:pt x="0" y="90931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657215" y="4953380"/>
            <a:ext cx="685165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 marR="99060" indent="2286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True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color</a:t>
            </a:r>
            <a:endParaRPr sz="1800">
              <a:latin typeface="Times New Roman"/>
              <a:cs typeface="Times New Roman"/>
            </a:endParaRPr>
          </a:p>
          <a:p>
            <a:pPr marL="106680" marR="5080" indent="-94615">
              <a:lnSpc>
                <a:spcPct val="100000"/>
              </a:lnSpc>
              <a:spcBef>
                <a:spcPts val="185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Pseudo color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167116" y="4133088"/>
            <a:ext cx="1138555" cy="562610"/>
            <a:chOff x="8167116" y="4133088"/>
            <a:chExt cx="1138555" cy="562610"/>
          </a:xfrm>
        </p:grpSpPr>
        <p:sp>
          <p:nvSpPr>
            <p:cNvPr id="31" name="object 31"/>
            <p:cNvSpPr/>
            <p:nvPr/>
          </p:nvSpPr>
          <p:spPr>
            <a:xfrm>
              <a:off x="8174736" y="4140708"/>
              <a:ext cx="1123315" cy="547370"/>
            </a:xfrm>
            <a:custGeom>
              <a:avLst/>
              <a:gdLst/>
              <a:ahLst/>
              <a:cxnLst/>
              <a:rect l="l" t="t" r="r" b="b"/>
              <a:pathLst>
                <a:path w="1123315" h="547370">
                  <a:moveTo>
                    <a:pt x="1032002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455930"/>
                  </a:lnTo>
                  <a:lnTo>
                    <a:pt x="7157" y="491448"/>
                  </a:lnTo>
                  <a:lnTo>
                    <a:pt x="26685" y="520430"/>
                  </a:lnTo>
                  <a:lnTo>
                    <a:pt x="55667" y="539958"/>
                  </a:lnTo>
                  <a:lnTo>
                    <a:pt x="91186" y="547116"/>
                  </a:lnTo>
                  <a:lnTo>
                    <a:pt x="1032002" y="547116"/>
                  </a:lnTo>
                  <a:lnTo>
                    <a:pt x="1067520" y="539958"/>
                  </a:lnTo>
                  <a:lnTo>
                    <a:pt x="1096502" y="520430"/>
                  </a:lnTo>
                  <a:lnTo>
                    <a:pt x="1116030" y="491448"/>
                  </a:lnTo>
                  <a:lnTo>
                    <a:pt x="1123188" y="455930"/>
                  </a:lnTo>
                  <a:lnTo>
                    <a:pt x="1123188" y="91186"/>
                  </a:lnTo>
                  <a:lnTo>
                    <a:pt x="1116030" y="55667"/>
                  </a:lnTo>
                  <a:lnTo>
                    <a:pt x="1096502" y="26685"/>
                  </a:lnTo>
                  <a:lnTo>
                    <a:pt x="1067520" y="7157"/>
                  </a:lnTo>
                  <a:lnTo>
                    <a:pt x="103200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74736" y="4140708"/>
              <a:ext cx="1123315" cy="547370"/>
            </a:xfrm>
            <a:custGeom>
              <a:avLst/>
              <a:gdLst/>
              <a:ahLst/>
              <a:cxnLst/>
              <a:rect l="l" t="t" r="r" b="b"/>
              <a:pathLst>
                <a:path w="1123315" h="547370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1032002" y="0"/>
                  </a:lnTo>
                  <a:lnTo>
                    <a:pt x="1067520" y="7157"/>
                  </a:lnTo>
                  <a:lnTo>
                    <a:pt x="1096502" y="26685"/>
                  </a:lnTo>
                  <a:lnTo>
                    <a:pt x="1116030" y="55667"/>
                  </a:lnTo>
                  <a:lnTo>
                    <a:pt x="1123188" y="91186"/>
                  </a:lnTo>
                  <a:lnTo>
                    <a:pt x="1123188" y="455930"/>
                  </a:lnTo>
                  <a:lnTo>
                    <a:pt x="1116030" y="491448"/>
                  </a:lnTo>
                  <a:lnTo>
                    <a:pt x="1096502" y="520430"/>
                  </a:lnTo>
                  <a:lnTo>
                    <a:pt x="1067520" y="539958"/>
                  </a:lnTo>
                  <a:lnTo>
                    <a:pt x="1032002" y="547116"/>
                  </a:lnTo>
                  <a:lnTo>
                    <a:pt x="91186" y="547116"/>
                  </a:lnTo>
                  <a:lnTo>
                    <a:pt x="55667" y="539958"/>
                  </a:lnTo>
                  <a:lnTo>
                    <a:pt x="26685" y="520430"/>
                  </a:lnTo>
                  <a:lnTo>
                    <a:pt x="7157" y="491448"/>
                  </a:lnTo>
                  <a:lnTo>
                    <a:pt x="0" y="455930"/>
                  </a:lnTo>
                  <a:lnTo>
                    <a:pt x="0" y="9118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585454" y="4257547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3D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167116" y="3360420"/>
            <a:ext cx="1138555" cy="562610"/>
            <a:chOff x="8167116" y="3360420"/>
            <a:chExt cx="1138555" cy="562610"/>
          </a:xfrm>
        </p:grpSpPr>
        <p:sp>
          <p:nvSpPr>
            <p:cNvPr id="35" name="object 35"/>
            <p:cNvSpPr/>
            <p:nvPr/>
          </p:nvSpPr>
          <p:spPr>
            <a:xfrm>
              <a:off x="8174736" y="3368040"/>
              <a:ext cx="1123315" cy="547370"/>
            </a:xfrm>
            <a:custGeom>
              <a:avLst/>
              <a:gdLst/>
              <a:ahLst/>
              <a:cxnLst/>
              <a:rect l="l" t="t" r="r" b="b"/>
              <a:pathLst>
                <a:path w="1123315" h="547370">
                  <a:moveTo>
                    <a:pt x="1032002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455930"/>
                  </a:lnTo>
                  <a:lnTo>
                    <a:pt x="7157" y="491448"/>
                  </a:lnTo>
                  <a:lnTo>
                    <a:pt x="26685" y="520430"/>
                  </a:lnTo>
                  <a:lnTo>
                    <a:pt x="55667" y="539958"/>
                  </a:lnTo>
                  <a:lnTo>
                    <a:pt x="91186" y="547116"/>
                  </a:lnTo>
                  <a:lnTo>
                    <a:pt x="1032002" y="547116"/>
                  </a:lnTo>
                  <a:lnTo>
                    <a:pt x="1067520" y="539958"/>
                  </a:lnTo>
                  <a:lnTo>
                    <a:pt x="1096502" y="520430"/>
                  </a:lnTo>
                  <a:lnTo>
                    <a:pt x="1116030" y="491448"/>
                  </a:lnTo>
                  <a:lnTo>
                    <a:pt x="1123188" y="455930"/>
                  </a:lnTo>
                  <a:lnTo>
                    <a:pt x="1123188" y="91186"/>
                  </a:lnTo>
                  <a:lnTo>
                    <a:pt x="1116030" y="55667"/>
                  </a:lnTo>
                  <a:lnTo>
                    <a:pt x="1096502" y="26685"/>
                  </a:lnTo>
                  <a:lnTo>
                    <a:pt x="1067520" y="7157"/>
                  </a:lnTo>
                  <a:lnTo>
                    <a:pt x="103200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74736" y="3368040"/>
              <a:ext cx="1123315" cy="547370"/>
            </a:xfrm>
            <a:custGeom>
              <a:avLst/>
              <a:gdLst/>
              <a:ahLst/>
              <a:cxnLst/>
              <a:rect l="l" t="t" r="r" b="b"/>
              <a:pathLst>
                <a:path w="1123315" h="547370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1032002" y="0"/>
                  </a:lnTo>
                  <a:lnTo>
                    <a:pt x="1067520" y="7157"/>
                  </a:lnTo>
                  <a:lnTo>
                    <a:pt x="1096502" y="26685"/>
                  </a:lnTo>
                  <a:lnTo>
                    <a:pt x="1116030" y="55667"/>
                  </a:lnTo>
                  <a:lnTo>
                    <a:pt x="1123188" y="91186"/>
                  </a:lnTo>
                  <a:lnTo>
                    <a:pt x="1123188" y="455930"/>
                  </a:lnTo>
                  <a:lnTo>
                    <a:pt x="1116030" y="491448"/>
                  </a:lnTo>
                  <a:lnTo>
                    <a:pt x="1096502" y="520430"/>
                  </a:lnTo>
                  <a:lnTo>
                    <a:pt x="1067520" y="539958"/>
                  </a:lnTo>
                  <a:lnTo>
                    <a:pt x="1032002" y="547116"/>
                  </a:lnTo>
                  <a:lnTo>
                    <a:pt x="91186" y="547116"/>
                  </a:lnTo>
                  <a:lnTo>
                    <a:pt x="55667" y="539958"/>
                  </a:lnTo>
                  <a:lnTo>
                    <a:pt x="26685" y="520430"/>
                  </a:lnTo>
                  <a:lnTo>
                    <a:pt x="7157" y="491448"/>
                  </a:lnTo>
                  <a:lnTo>
                    <a:pt x="0" y="455930"/>
                  </a:lnTo>
                  <a:lnTo>
                    <a:pt x="0" y="9118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585454" y="3485515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2D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034286" y="3188207"/>
            <a:ext cx="299085" cy="1271905"/>
          </a:xfrm>
          <a:custGeom>
            <a:avLst/>
            <a:gdLst/>
            <a:ahLst/>
            <a:cxnLst/>
            <a:rect l="l" t="t" r="r" b="b"/>
            <a:pathLst>
              <a:path w="299085" h="1271904">
                <a:moveTo>
                  <a:pt x="298577" y="480060"/>
                </a:moveTo>
                <a:lnTo>
                  <a:pt x="285877" y="473710"/>
                </a:lnTo>
                <a:lnTo>
                  <a:pt x="222377" y="441960"/>
                </a:lnTo>
                <a:lnTo>
                  <a:pt x="222377" y="473710"/>
                </a:lnTo>
                <a:lnTo>
                  <a:pt x="12700" y="473710"/>
                </a:lnTo>
                <a:lnTo>
                  <a:pt x="12700" y="0"/>
                </a:lnTo>
                <a:lnTo>
                  <a:pt x="0" y="0"/>
                </a:lnTo>
                <a:lnTo>
                  <a:pt x="0" y="483616"/>
                </a:lnTo>
                <a:lnTo>
                  <a:pt x="0" y="1236980"/>
                </a:lnTo>
                <a:lnTo>
                  <a:pt x="2794" y="1239901"/>
                </a:lnTo>
                <a:lnTo>
                  <a:pt x="222377" y="1239901"/>
                </a:lnTo>
                <a:lnTo>
                  <a:pt x="222377" y="1271651"/>
                </a:lnTo>
                <a:lnTo>
                  <a:pt x="285877" y="1239901"/>
                </a:lnTo>
                <a:lnTo>
                  <a:pt x="298577" y="1233551"/>
                </a:lnTo>
                <a:lnTo>
                  <a:pt x="285877" y="1227201"/>
                </a:lnTo>
                <a:lnTo>
                  <a:pt x="222377" y="1195451"/>
                </a:lnTo>
                <a:lnTo>
                  <a:pt x="222377" y="1227201"/>
                </a:lnTo>
                <a:lnTo>
                  <a:pt x="12700" y="1227201"/>
                </a:lnTo>
                <a:lnTo>
                  <a:pt x="12700" y="486410"/>
                </a:lnTo>
                <a:lnTo>
                  <a:pt x="222377" y="486410"/>
                </a:lnTo>
                <a:lnTo>
                  <a:pt x="222377" y="518160"/>
                </a:lnTo>
                <a:lnTo>
                  <a:pt x="285877" y="486410"/>
                </a:lnTo>
                <a:lnTo>
                  <a:pt x="298577" y="48006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743958" y="3188207"/>
            <a:ext cx="694690" cy="2879725"/>
          </a:xfrm>
          <a:custGeom>
            <a:avLst/>
            <a:gdLst/>
            <a:ahLst/>
            <a:cxnLst/>
            <a:rect l="l" t="t" r="r" b="b"/>
            <a:pathLst>
              <a:path w="694689" h="2879725">
                <a:moveTo>
                  <a:pt x="694563" y="454406"/>
                </a:moveTo>
                <a:lnTo>
                  <a:pt x="681863" y="448056"/>
                </a:lnTo>
                <a:lnTo>
                  <a:pt x="618363" y="416306"/>
                </a:lnTo>
                <a:lnTo>
                  <a:pt x="618363" y="448056"/>
                </a:lnTo>
                <a:lnTo>
                  <a:pt x="12700" y="448056"/>
                </a:lnTo>
                <a:lnTo>
                  <a:pt x="12700" y="0"/>
                </a:lnTo>
                <a:lnTo>
                  <a:pt x="0" y="0"/>
                </a:lnTo>
                <a:lnTo>
                  <a:pt x="0" y="457962"/>
                </a:lnTo>
                <a:lnTo>
                  <a:pt x="0" y="1268095"/>
                </a:lnTo>
                <a:lnTo>
                  <a:pt x="0" y="2061591"/>
                </a:lnTo>
                <a:lnTo>
                  <a:pt x="0" y="2845041"/>
                </a:lnTo>
                <a:lnTo>
                  <a:pt x="2794" y="2847873"/>
                </a:lnTo>
                <a:lnTo>
                  <a:pt x="618363" y="2847873"/>
                </a:lnTo>
                <a:lnTo>
                  <a:pt x="618363" y="2879623"/>
                </a:lnTo>
                <a:lnTo>
                  <a:pt x="681863" y="2847873"/>
                </a:lnTo>
                <a:lnTo>
                  <a:pt x="694563" y="2841523"/>
                </a:lnTo>
                <a:lnTo>
                  <a:pt x="681863" y="2835173"/>
                </a:lnTo>
                <a:lnTo>
                  <a:pt x="618363" y="2803423"/>
                </a:lnTo>
                <a:lnTo>
                  <a:pt x="618363" y="2835173"/>
                </a:lnTo>
                <a:lnTo>
                  <a:pt x="12700" y="2835173"/>
                </a:lnTo>
                <a:lnTo>
                  <a:pt x="12700" y="2064385"/>
                </a:lnTo>
                <a:lnTo>
                  <a:pt x="618363" y="2064385"/>
                </a:lnTo>
                <a:lnTo>
                  <a:pt x="618363" y="2096135"/>
                </a:lnTo>
                <a:lnTo>
                  <a:pt x="681863" y="2064385"/>
                </a:lnTo>
                <a:lnTo>
                  <a:pt x="694563" y="2058035"/>
                </a:lnTo>
                <a:lnTo>
                  <a:pt x="681863" y="2051685"/>
                </a:lnTo>
                <a:lnTo>
                  <a:pt x="618363" y="2019935"/>
                </a:lnTo>
                <a:lnTo>
                  <a:pt x="618363" y="2051685"/>
                </a:lnTo>
                <a:lnTo>
                  <a:pt x="12700" y="2051685"/>
                </a:lnTo>
                <a:lnTo>
                  <a:pt x="12700" y="1271016"/>
                </a:lnTo>
                <a:lnTo>
                  <a:pt x="618363" y="1271016"/>
                </a:lnTo>
                <a:lnTo>
                  <a:pt x="618363" y="1302766"/>
                </a:lnTo>
                <a:lnTo>
                  <a:pt x="681863" y="1271016"/>
                </a:lnTo>
                <a:lnTo>
                  <a:pt x="694563" y="1264666"/>
                </a:lnTo>
                <a:lnTo>
                  <a:pt x="681863" y="1258316"/>
                </a:lnTo>
                <a:lnTo>
                  <a:pt x="618363" y="1226566"/>
                </a:lnTo>
                <a:lnTo>
                  <a:pt x="618363" y="1258316"/>
                </a:lnTo>
                <a:lnTo>
                  <a:pt x="12700" y="1258316"/>
                </a:lnTo>
                <a:lnTo>
                  <a:pt x="12700" y="460756"/>
                </a:lnTo>
                <a:lnTo>
                  <a:pt x="618363" y="460756"/>
                </a:lnTo>
                <a:lnTo>
                  <a:pt x="618363" y="492506"/>
                </a:lnTo>
                <a:lnTo>
                  <a:pt x="681863" y="460756"/>
                </a:lnTo>
                <a:lnTo>
                  <a:pt x="694563" y="454406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96302" y="3188207"/>
            <a:ext cx="679450" cy="1263650"/>
          </a:xfrm>
          <a:custGeom>
            <a:avLst/>
            <a:gdLst/>
            <a:ahLst/>
            <a:cxnLst/>
            <a:rect l="l" t="t" r="r" b="b"/>
            <a:pathLst>
              <a:path w="679450" h="1263650">
                <a:moveTo>
                  <a:pt x="678942" y="453136"/>
                </a:moveTo>
                <a:lnTo>
                  <a:pt x="666242" y="446786"/>
                </a:lnTo>
                <a:lnTo>
                  <a:pt x="602742" y="415048"/>
                </a:lnTo>
                <a:lnTo>
                  <a:pt x="602742" y="446786"/>
                </a:lnTo>
                <a:lnTo>
                  <a:pt x="12700" y="446786"/>
                </a:lnTo>
                <a:lnTo>
                  <a:pt x="12700" y="0"/>
                </a:lnTo>
                <a:lnTo>
                  <a:pt x="0" y="0"/>
                </a:lnTo>
                <a:lnTo>
                  <a:pt x="0" y="456692"/>
                </a:lnTo>
                <a:lnTo>
                  <a:pt x="0" y="1228598"/>
                </a:lnTo>
                <a:lnTo>
                  <a:pt x="2794" y="1231392"/>
                </a:lnTo>
                <a:lnTo>
                  <a:pt x="602742" y="1231392"/>
                </a:lnTo>
                <a:lnTo>
                  <a:pt x="602742" y="1263142"/>
                </a:lnTo>
                <a:lnTo>
                  <a:pt x="666242" y="1231392"/>
                </a:lnTo>
                <a:lnTo>
                  <a:pt x="678942" y="1225042"/>
                </a:lnTo>
                <a:lnTo>
                  <a:pt x="666242" y="1218692"/>
                </a:lnTo>
                <a:lnTo>
                  <a:pt x="602742" y="1186942"/>
                </a:lnTo>
                <a:lnTo>
                  <a:pt x="602742" y="1218692"/>
                </a:lnTo>
                <a:lnTo>
                  <a:pt x="12700" y="1218692"/>
                </a:lnTo>
                <a:lnTo>
                  <a:pt x="12700" y="459486"/>
                </a:lnTo>
                <a:lnTo>
                  <a:pt x="602742" y="459486"/>
                </a:lnTo>
                <a:lnTo>
                  <a:pt x="602742" y="491236"/>
                </a:lnTo>
                <a:lnTo>
                  <a:pt x="666242" y="459486"/>
                </a:lnTo>
                <a:lnTo>
                  <a:pt x="678942" y="453136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Types</a:t>
            </a:r>
            <a:r>
              <a:rPr spc="-200" dirty="0"/>
              <a:t> </a:t>
            </a:r>
            <a:r>
              <a:rPr dirty="0"/>
              <a:t>of</a:t>
            </a:r>
            <a:r>
              <a:rPr spc="-245" dirty="0"/>
              <a:t> </a:t>
            </a:r>
            <a:r>
              <a:rPr spc="-30" dirty="0"/>
              <a:t>Images</a:t>
            </a:r>
            <a:r>
              <a:rPr spc="-210" dirty="0"/>
              <a:t> </a:t>
            </a:r>
            <a:r>
              <a:rPr spc="-10" dirty="0"/>
              <a:t>based</a:t>
            </a:r>
            <a:r>
              <a:rPr spc="-220" dirty="0"/>
              <a:t> </a:t>
            </a:r>
            <a:r>
              <a:rPr spc="-25" dirty="0"/>
              <a:t>on</a:t>
            </a:r>
            <a:r>
              <a:rPr spc="-360" dirty="0"/>
              <a:t> </a:t>
            </a:r>
            <a:r>
              <a:rPr spc="-30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4949190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b="1" dirty="0">
                <a:latin typeface="Times New Roman"/>
                <a:cs typeface="Times New Roman"/>
              </a:rPr>
              <a:t>Raster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pixel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quality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raster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pixels.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06109" y="1816306"/>
            <a:ext cx="494855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Vector</a:t>
            </a:r>
            <a:r>
              <a:rPr sz="200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Graphics</a:t>
            </a:r>
            <a:r>
              <a:rPr sz="20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geometric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attributes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like</a:t>
            </a:r>
            <a:endParaRPr sz="200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lines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circles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describe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2472" y="3011423"/>
            <a:ext cx="2866644" cy="31531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2883" y="3011423"/>
            <a:ext cx="2951987" cy="31531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Types</a:t>
            </a:r>
            <a:r>
              <a:rPr spc="-200" dirty="0"/>
              <a:t> </a:t>
            </a:r>
            <a:r>
              <a:rPr dirty="0"/>
              <a:t>of</a:t>
            </a:r>
            <a:r>
              <a:rPr spc="-195" dirty="0"/>
              <a:t> </a:t>
            </a:r>
            <a:r>
              <a:rPr spc="-30" dirty="0"/>
              <a:t>Images</a:t>
            </a:r>
            <a:r>
              <a:rPr spc="-215" dirty="0"/>
              <a:t> </a:t>
            </a:r>
            <a:r>
              <a:rPr spc="-10" dirty="0"/>
              <a:t>based</a:t>
            </a:r>
            <a:r>
              <a:rPr spc="-229" dirty="0"/>
              <a:t> </a:t>
            </a:r>
            <a:r>
              <a:rPr dirty="0"/>
              <a:t>on</a:t>
            </a:r>
            <a:r>
              <a:rPr spc="-185" dirty="0"/>
              <a:t> </a:t>
            </a:r>
            <a:r>
              <a:rPr spc="-10" dirty="0"/>
              <a:t>Color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86002" y="1935607"/>
            <a:ext cx="9885680" cy="3416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835" indent="-193675" algn="just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203835" algn="l"/>
              </a:tabLst>
            </a:pPr>
            <a:r>
              <a:rPr sz="1700" b="1" dirty="0">
                <a:latin typeface="Times New Roman"/>
                <a:cs typeface="Times New Roman"/>
              </a:rPr>
              <a:t>Binary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Images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also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called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bi-</a:t>
            </a:r>
            <a:r>
              <a:rPr sz="1700" dirty="0">
                <a:latin typeface="Times New Roman"/>
                <a:cs typeface="Times New Roman"/>
              </a:rPr>
              <a:t>level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images.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pixel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assume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value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 and</a:t>
            </a:r>
            <a:r>
              <a:rPr sz="1700" spc="-25" dirty="0">
                <a:latin typeface="Times New Roman"/>
                <a:cs typeface="Times New Roman"/>
              </a:rPr>
              <a:t> 1.</a:t>
            </a:r>
            <a:endParaRPr sz="1700">
              <a:latin typeface="Times New Roman"/>
              <a:cs typeface="Times New Roman"/>
            </a:endParaRPr>
          </a:p>
          <a:p>
            <a:pPr marL="194945" marR="5080" indent="-185420" algn="just">
              <a:lnSpc>
                <a:spcPct val="140000"/>
              </a:lnSpc>
              <a:spcBef>
                <a:spcPts val="595"/>
              </a:spcBef>
              <a:buSzPct val="94117"/>
              <a:buFont typeface="Wingdings"/>
              <a:buChar char=""/>
              <a:tabLst>
                <a:tab pos="194945" algn="l"/>
                <a:tab pos="203200" algn="l"/>
              </a:tabLst>
            </a:pPr>
            <a:r>
              <a:rPr sz="1700" dirty="0">
                <a:solidFill>
                  <a:srgbClr val="E38312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Grey</a:t>
            </a:r>
            <a:r>
              <a:rPr sz="1700" b="1" spc="3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1700" b="1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700" b="1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Eight</a:t>
            </a:r>
            <a:r>
              <a:rPr sz="17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bits</a:t>
            </a:r>
            <a:r>
              <a:rPr sz="17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(2^8=256)</a:t>
            </a:r>
            <a:r>
              <a:rPr sz="1700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enough</a:t>
            </a:r>
            <a:r>
              <a:rPr sz="17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represent</a:t>
            </a:r>
            <a:r>
              <a:rPr sz="17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grey</a:t>
            </a:r>
            <a:r>
              <a:rPr sz="1700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scale</a:t>
            </a:r>
            <a:r>
              <a:rPr sz="17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7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human</a:t>
            </a:r>
            <a:r>
              <a:rPr sz="17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visual</a:t>
            </a:r>
            <a:r>
              <a:rPr sz="17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7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can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distinguish</a:t>
            </a:r>
            <a:r>
              <a:rPr sz="17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only</a:t>
            </a:r>
            <a:r>
              <a:rPr sz="17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32</a:t>
            </a:r>
            <a:r>
              <a:rPr sz="17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different</a:t>
            </a:r>
            <a:r>
              <a:rPr sz="17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levels.</a:t>
            </a:r>
            <a:r>
              <a:rPr sz="17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gray</a:t>
            </a:r>
            <a:r>
              <a:rPr sz="17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scale</a:t>
            </a:r>
            <a:r>
              <a:rPr sz="17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7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7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kind</a:t>
            </a:r>
            <a:r>
              <a:rPr sz="17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black</a:t>
            </a:r>
            <a:r>
              <a:rPr sz="17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7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white</a:t>
            </a:r>
            <a:r>
              <a:rPr sz="17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7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gray</a:t>
            </a:r>
            <a:r>
              <a:rPr sz="17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monochrome</a:t>
            </a:r>
            <a:r>
              <a:rPr sz="17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composed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exclusively</a:t>
            </a:r>
            <a:r>
              <a:rPr sz="17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shades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gray.</a:t>
            </a:r>
            <a:endParaRPr sz="1700">
              <a:latin typeface="Times New Roman"/>
              <a:cs typeface="Times New Roman"/>
            </a:endParaRPr>
          </a:p>
          <a:p>
            <a:pPr marL="194945" marR="7620" indent="-185420" algn="just">
              <a:lnSpc>
                <a:spcPct val="140000"/>
              </a:lnSpc>
              <a:spcBef>
                <a:spcPts val="605"/>
              </a:spcBef>
              <a:buSzPct val="94117"/>
              <a:buFont typeface="Wingdings"/>
              <a:buChar char=""/>
              <a:tabLst>
                <a:tab pos="194945" algn="l"/>
                <a:tab pos="203200" algn="l"/>
              </a:tabLst>
            </a:pPr>
            <a:r>
              <a:rPr sz="1700" dirty="0">
                <a:solidFill>
                  <a:srgbClr val="E38312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True</a:t>
            </a:r>
            <a:r>
              <a:rPr sz="1700" b="1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Color</a:t>
            </a:r>
            <a:r>
              <a:rPr sz="1700" b="1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700" b="1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17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known</a:t>
            </a:r>
            <a:r>
              <a:rPr sz="17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17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color</a:t>
            </a:r>
            <a:r>
              <a:rPr sz="17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represents</a:t>
            </a:r>
            <a:r>
              <a:rPr sz="17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17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range</a:t>
            </a:r>
            <a:r>
              <a:rPr sz="17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available</a:t>
            </a:r>
            <a:r>
              <a:rPr sz="17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colors.</a:t>
            </a:r>
            <a:r>
              <a:rPr sz="17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Mostly</a:t>
            </a:r>
            <a:r>
              <a:rPr sz="17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they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24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bits</a:t>
            </a:r>
            <a:r>
              <a:rPr sz="17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represent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colors.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Hence,</a:t>
            </a:r>
            <a:r>
              <a:rPr sz="17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considered</a:t>
            </a:r>
            <a:r>
              <a:rPr sz="17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band</a:t>
            </a:r>
            <a:r>
              <a:rPr sz="17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images.</a:t>
            </a:r>
            <a:endParaRPr sz="1700">
              <a:latin typeface="Times New Roman"/>
              <a:cs typeface="Times New Roman"/>
            </a:endParaRPr>
          </a:p>
          <a:p>
            <a:pPr marL="194945" marR="5080" indent="-185420" algn="just">
              <a:lnSpc>
                <a:spcPct val="140000"/>
              </a:lnSpc>
              <a:spcBef>
                <a:spcPts val="600"/>
              </a:spcBef>
              <a:buSzPct val="94117"/>
              <a:buFont typeface="Wingdings"/>
              <a:buChar char=""/>
              <a:tabLst>
                <a:tab pos="194945" algn="l"/>
                <a:tab pos="203200" algn="l"/>
              </a:tabLst>
            </a:pPr>
            <a:r>
              <a:rPr sz="1700" dirty="0">
                <a:solidFill>
                  <a:srgbClr val="E38312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Pseudo</a:t>
            </a:r>
            <a:r>
              <a:rPr sz="1700" b="1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Color</a:t>
            </a:r>
            <a:r>
              <a:rPr sz="1700" b="1" spc="4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700" b="1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sz="1700" spc="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false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color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images,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where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colors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added</a:t>
            </a:r>
            <a:r>
              <a:rPr sz="1700" spc="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artificially</a:t>
            </a:r>
            <a:r>
              <a:rPr sz="1700" spc="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700" spc="4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700" spc="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7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interpretation</a:t>
            </a:r>
            <a:r>
              <a:rPr sz="17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data.</a:t>
            </a:r>
            <a:r>
              <a:rPr sz="17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17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popular</a:t>
            </a:r>
            <a:r>
              <a:rPr sz="17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7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medical</a:t>
            </a:r>
            <a:r>
              <a:rPr sz="17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domain.</a:t>
            </a:r>
            <a:r>
              <a:rPr sz="17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Doppler</a:t>
            </a:r>
            <a:r>
              <a:rPr sz="17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color</a:t>
            </a:r>
            <a:r>
              <a:rPr sz="17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70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7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example</a:t>
            </a:r>
            <a:r>
              <a:rPr sz="17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7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pseudo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color</a:t>
            </a:r>
            <a:r>
              <a:rPr sz="17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images.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Types</a:t>
            </a:r>
            <a:r>
              <a:rPr spc="-200" dirty="0"/>
              <a:t> </a:t>
            </a:r>
            <a:r>
              <a:rPr dirty="0"/>
              <a:t>of</a:t>
            </a:r>
            <a:r>
              <a:rPr spc="-195" dirty="0"/>
              <a:t> </a:t>
            </a:r>
            <a:r>
              <a:rPr spc="-30" dirty="0"/>
              <a:t>Images</a:t>
            </a:r>
            <a:r>
              <a:rPr spc="-215" dirty="0"/>
              <a:t> </a:t>
            </a:r>
            <a:r>
              <a:rPr spc="-10" dirty="0"/>
              <a:t>based</a:t>
            </a:r>
            <a:r>
              <a:rPr spc="-229" dirty="0"/>
              <a:t> </a:t>
            </a:r>
            <a:r>
              <a:rPr dirty="0"/>
              <a:t>on</a:t>
            </a:r>
            <a:r>
              <a:rPr spc="-185" dirty="0"/>
              <a:t> </a:t>
            </a:r>
            <a:r>
              <a:rPr spc="-25" dirty="0"/>
              <a:t>Dimensions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6002" y="1967611"/>
            <a:ext cx="9885680" cy="1322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Generally</a:t>
            </a:r>
            <a:r>
              <a:rPr sz="20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2D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rectangular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array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pixels.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another</a:t>
            </a:r>
            <a:r>
              <a:rPr sz="20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dimensions</a:t>
            </a:r>
            <a:r>
              <a:rPr sz="20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added</a:t>
            </a:r>
            <a:r>
              <a:rPr sz="20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like</a:t>
            </a:r>
            <a:r>
              <a:rPr sz="20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depth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sz="20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other</a:t>
            </a:r>
            <a:r>
              <a:rPr sz="20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characteristics,</a:t>
            </a:r>
            <a:r>
              <a:rPr sz="20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necessary</a:t>
            </a:r>
            <a:r>
              <a:rPr sz="20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endParaRPr sz="200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higher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order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stack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like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3D.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2951" y="3561588"/>
            <a:ext cx="4037990" cy="2744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6052" y="3176016"/>
            <a:ext cx="5148350" cy="299019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75" dirty="0"/>
              <a:t> </a:t>
            </a:r>
            <a:r>
              <a:rPr spc="-35" dirty="0"/>
              <a:t>Formats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55749"/>
            <a:ext cx="10086340" cy="3766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4139" marR="5080" indent="-93980" algn="just">
              <a:lnSpc>
                <a:spcPct val="129900"/>
              </a:lnSpc>
              <a:spcBef>
                <a:spcPts val="90"/>
              </a:spcBef>
              <a:buClr>
                <a:srgbClr val="E38312"/>
              </a:buClr>
              <a:buSzPct val="94736"/>
              <a:buFont typeface="Wingdings"/>
              <a:buChar char=""/>
              <a:tabLst>
                <a:tab pos="104139" algn="l"/>
                <a:tab pos="226060" algn="l"/>
              </a:tabLst>
            </a:pPr>
            <a:r>
              <a:rPr sz="1900" b="1" dirty="0">
                <a:solidFill>
                  <a:srgbClr val="404040"/>
                </a:solidFill>
                <a:latin typeface="Times New Roman"/>
                <a:cs typeface="Times New Roman"/>
              </a:rPr>
              <a:t>	JPEG:</a:t>
            </a:r>
            <a:r>
              <a:rPr sz="1900" b="1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900" spc="22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900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known</a:t>
            </a:r>
            <a:r>
              <a:rPr sz="19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9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04040"/>
                </a:solidFill>
                <a:latin typeface="Times New Roman"/>
                <a:cs typeface="Times New Roman"/>
              </a:rPr>
              <a:t>Join</a:t>
            </a:r>
            <a:r>
              <a:rPr sz="1900" b="1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04040"/>
                </a:solidFill>
                <a:latin typeface="Times New Roman"/>
                <a:cs typeface="Times New Roman"/>
              </a:rPr>
              <a:t>Photographic</a:t>
            </a:r>
            <a:r>
              <a:rPr sz="1900" b="1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04040"/>
                </a:solidFill>
                <a:latin typeface="Times New Roman"/>
                <a:cs typeface="Times New Roman"/>
              </a:rPr>
              <a:t>Expert</a:t>
            </a:r>
            <a:r>
              <a:rPr sz="1900" b="1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404040"/>
                </a:solidFill>
                <a:latin typeface="Times New Roman"/>
                <a:cs typeface="Times New Roman"/>
              </a:rPr>
              <a:t>Group.</a:t>
            </a:r>
            <a:r>
              <a:rPr sz="1900" b="1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JPEGs</a:t>
            </a:r>
            <a:r>
              <a:rPr sz="19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9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known</a:t>
            </a:r>
            <a:r>
              <a:rPr sz="1900" spc="22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900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sz="19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"lossy"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compression,</a:t>
            </a:r>
            <a:r>
              <a:rPr sz="19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meaning</a:t>
            </a:r>
            <a:r>
              <a:rPr sz="19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9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9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quality</a:t>
            </a:r>
            <a:r>
              <a:rPr sz="19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9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9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9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decreases</a:t>
            </a:r>
            <a:r>
              <a:rPr sz="19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9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9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file</a:t>
            </a:r>
            <a:r>
              <a:rPr sz="19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size</a:t>
            </a:r>
            <a:r>
              <a:rPr sz="19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decreases.</a:t>
            </a:r>
            <a:r>
              <a:rPr sz="19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JPEG</a:t>
            </a:r>
            <a:r>
              <a:rPr sz="19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files</a:t>
            </a:r>
            <a:r>
              <a:rPr sz="19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very</a:t>
            </a:r>
            <a:r>
              <a:rPr sz="19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common</a:t>
            </a:r>
            <a:r>
              <a:rPr sz="19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9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Internet</a:t>
            </a:r>
            <a:r>
              <a:rPr sz="19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JPEG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9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popular</a:t>
            </a:r>
            <a:r>
              <a:rPr sz="19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format</a:t>
            </a:r>
            <a:r>
              <a:rPr sz="19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9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9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cameras</a:t>
            </a:r>
            <a:r>
              <a:rPr sz="19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r>
              <a:rPr sz="19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making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9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ideal</a:t>
            </a:r>
            <a:r>
              <a:rPr sz="19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web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non-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professional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prints.</a:t>
            </a:r>
            <a:endParaRPr sz="1900">
              <a:latin typeface="Times New Roman"/>
              <a:cs typeface="Times New Roman"/>
            </a:endParaRPr>
          </a:p>
          <a:p>
            <a:pPr marL="104139" marR="5715" indent="-93980" algn="just">
              <a:lnSpc>
                <a:spcPct val="129500"/>
              </a:lnSpc>
              <a:spcBef>
                <a:spcPts val="1425"/>
              </a:spcBef>
              <a:buClr>
                <a:srgbClr val="E38312"/>
              </a:buClr>
              <a:buSzPct val="94736"/>
              <a:buFont typeface="Wingdings"/>
              <a:buChar char=""/>
              <a:tabLst>
                <a:tab pos="104139" algn="l"/>
                <a:tab pos="226060" algn="l"/>
              </a:tabLst>
            </a:pPr>
            <a:r>
              <a:rPr sz="1900" b="1" dirty="0">
                <a:solidFill>
                  <a:srgbClr val="404040"/>
                </a:solidFill>
                <a:latin typeface="Times New Roman"/>
                <a:cs typeface="Times New Roman"/>
              </a:rPr>
              <a:t>	GIF:</a:t>
            </a:r>
            <a:r>
              <a:rPr sz="1900" b="1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9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9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known</a:t>
            </a:r>
            <a:r>
              <a:rPr sz="19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9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Graphics</a:t>
            </a:r>
            <a:r>
              <a:rPr sz="19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Interchange</a:t>
            </a:r>
            <a:r>
              <a:rPr sz="19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Format</a:t>
            </a:r>
            <a:r>
              <a:rPr sz="19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(Lossless</a:t>
            </a:r>
            <a:r>
              <a:rPr sz="19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compression).</a:t>
            </a:r>
            <a:r>
              <a:rPr sz="19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9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sz="19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19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basic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form,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GIFs are</a:t>
            </a:r>
            <a:r>
              <a:rPr sz="19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formed from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up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9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256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colors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9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RGB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 color-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space.</a:t>
            </a:r>
            <a:endParaRPr sz="1900">
              <a:latin typeface="Times New Roman"/>
              <a:cs typeface="Times New Roman"/>
            </a:endParaRPr>
          </a:p>
          <a:p>
            <a:pPr marL="104139" marR="5715" indent="-93980" algn="just">
              <a:lnSpc>
                <a:spcPct val="129700"/>
              </a:lnSpc>
              <a:spcBef>
                <a:spcPts val="1415"/>
              </a:spcBef>
              <a:buClr>
                <a:srgbClr val="E38312"/>
              </a:buClr>
              <a:buSzPct val="94736"/>
              <a:buFont typeface="Wingdings"/>
              <a:buChar char=""/>
              <a:tabLst>
                <a:tab pos="104139" algn="l"/>
                <a:tab pos="226060" algn="l"/>
              </a:tabLst>
            </a:pPr>
            <a:r>
              <a:rPr sz="1900" b="1" dirty="0">
                <a:solidFill>
                  <a:srgbClr val="404040"/>
                </a:solidFill>
                <a:latin typeface="Times New Roman"/>
                <a:cs typeface="Times New Roman"/>
              </a:rPr>
              <a:t>	BMP:</a:t>
            </a:r>
            <a:r>
              <a:rPr sz="1900" b="1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9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9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known</a:t>
            </a:r>
            <a:r>
              <a:rPr sz="19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900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Bit</a:t>
            </a:r>
            <a:r>
              <a:rPr sz="1900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Map</a:t>
            </a:r>
            <a:r>
              <a:rPr sz="19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Picture.</a:t>
            </a:r>
            <a:r>
              <a:rPr sz="19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BMP</a:t>
            </a:r>
            <a:r>
              <a:rPr sz="19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9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Bitmap</a:t>
            </a:r>
            <a:r>
              <a:rPr sz="19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9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File</a:t>
            </a:r>
            <a:r>
              <a:rPr sz="1900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9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9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format</a:t>
            </a:r>
            <a:r>
              <a:rPr sz="19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developed</a:t>
            </a:r>
            <a:r>
              <a:rPr sz="19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by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Microsoft</a:t>
            </a:r>
            <a:r>
              <a:rPr sz="19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9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Windows.</a:t>
            </a:r>
            <a:r>
              <a:rPr sz="19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19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9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no</a:t>
            </a:r>
            <a:r>
              <a:rPr sz="19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compression</a:t>
            </a:r>
            <a:r>
              <a:rPr sz="19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9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sz="1900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loss</a:t>
            </a:r>
            <a:r>
              <a:rPr sz="19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9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BMP</a:t>
            </a:r>
            <a:r>
              <a:rPr sz="19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files</a:t>
            </a:r>
            <a:r>
              <a:rPr sz="19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19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allow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19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very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high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quality,</a:t>
            </a:r>
            <a:r>
              <a:rPr sz="19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19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19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very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large</a:t>
            </a:r>
            <a:r>
              <a:rPr sz="19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file</a:t>
            </a:r>
            <a:r>
              <a:rPr sz="19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sizes.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75" dirty="0"/>
              <a:t> </a:t>
            </a:r>
            <a:r>
              <a:rPr spc="-35" dirty="0"/>
              <a:t>Formats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3980" algn="just">
              <a:lnSpc>
                <a:spcPct val="130000"/>
              </a:lnSpc>
              <a:spcBef>
                <a:spcPts val="100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104139" algn="l"/>
                <a:tab pos="203835" algn="l"/>
              </a:tabLst>
            </a:pPr>
            <a:r>
              <a:rPr b="1" dirty="0">
                <a:latin typeface="Times New Roman"/>
                <a:cs typeface="Times New Roman"/>
              </a:rPr>
              <a:t>	TIFF:</a:t>
            </a:r>
            <a:r>
              <a:rPr b="1" spc="10" dirty="0">
                <a:latin typeface="Times New Roman"/>
                <a:cs typeface="Times New Roman"/>
              </a:rPr>
              <a:t> </a:t>
            </a:r>
            <a:r>
              <a:rPr dirty="0"/>
              <a:t>TIFF</a:t>
            </a:r>
            <a:r>
              <a:rPr spc="15" dirty="0"/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dirty="0"/>
              <a:t>Tagged</a:t>
            </a:r>
            <a:r>
              <a:rPr spc="35" dirty="0"/>
              <a:t> </a:t>
            </a:r>
            <a:r>
              <a:rPr dirty="0"/>
              <a:t>Image</a:t>
            </a:r>
            <a:r>
              <a:rPr spc="25" dirty="0"/>
              <a:t> </a:t>
            </a:r>
            <a:r>
              <a:rPr dirty="0"/>
              <a:t>File</a:t>
            </a:r>
            <a:r>
              <a:rPr spc="25" dirty="0"/>
              <a:t> </a:t>
            </a:r>
            <a:r>
              <a:rPr dirty="0"/>
              <a:t>Format</a:t>
            </a:r>
            <a:r>
              <a:rPr spc="20" dirty="0"/>
              <a:t> </a:t>
            </a:r>
            <a:r>
              <a:rPr dirty="0"/>
              <a:t>are</a:t>
            </a:r>
            <a:r>
              <a:rPr spc="25" dirty="0"/>
              <a:t> </a:t>
            </a:r>
            <a:r>
              <a:rPr dirty="0"/>
              <a:t>lossless</a:t>
            </a:r>
            <a:r>
              <a:rPr spc="20" dirty="0"/>
              <a:t> </a:t>
            </a:r>
            <a:r>
              <a:rPr dirty="0"/>
              <a:t>images</a:t>
            </a:r>
            <a:r>
              <a:rPr spc="30" dirty="0"/>
              <a:t> </a:t>
            </a:r>
            <a:r>
              <a:rPr dirty="0"/>
              <a:t>files</a:t>
            </a:r>
            <a:r>
              <a:rPr spc="25" dirty="0"/>
              <a:t> </a:t>
            </a:r>
            <a:r>
              <a:rPr dirty="0"/>
              <a:t>meaning</a:t>
            </a:r>
            <a:r>
              <a:rPr spc="30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dirty="0"/>
              <a:t>they</a:t>
            </a:r>
            <a:r>
              <a:rPr spc="25" dirty="0"/>
              <a:t> </a:t>
            </a:r>
            <a:r>
              <a:rPr dirty="0"/>
              <a:t>do</a:t>
            </a:r>
            <a:r>
              <a:rPr spc="30" dirty="0"/>
              <a:t> </a:t>
            </a:r>
            <a:r>
              <a:rPr dirty="0"/>
              <a:t>not</a:t>
            </a:r>
            <a:r>
              <a:rPr spc="20" dirty="0"/>
              <a:t> </a:t>
            </a:r>
            <a:r>
              <a:rPr dirty="0"/>
              <a:t>need</a:t>
            </a:r>
            <a:r>
              <a:rPr spc="2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compress</a:t>
            </a:r>
            <a:r>
              <a:rPr spc="25" dirty="0"/>
              <a:t> </a:t>
            </a:r>
            <a:r>
              <a:rPr spc="-25" dirty="0"/>
              <a:t>or </a:t>
            </a:r>
            <a:r>
              <a:rPr dirty="0"/>
              <a:t>lose</a:t>
            </a:r>
            <a:r>
              <a:rPr spc="35" dirty="0"/>
              <a:t> </a:t>
            </a:r>
            <a:r>
              <a:rPr dirty="0"/>
              <a:t>any</a:t>
            </a:r>
            <a:r>
              <a:rPr spc="25" dirty="0"/>
              <a:t> </a:t>
            </a:r>
            <a:r>
              <a:rPr dirty="0"/>
              <a:t>image</a:t>
            </a:r>
            <a:r>
              <a:rPr spc="30" dirty="0"/>
              <a:t> </a:t>
            </a:r>
            <a:r>
              <a:rPr dirty="0"/>
              <a:t>quality</a:t>
            </a:r>
            <a:r>
              <a:rPr spc="40" dirty="0"/>
              <a:t> </a:t>
            </a:r>
            <a:r>
              <a:rPr dirty="0"/>
              <a:t>or</a:t>
            </a:r>
            <a:r>
              <a:rPr spc="35" dirty="0"/>
              <a:t> </a:t>
            </a:r>
            <a:r>
              <a:rPr dirty="0"/>
              <a:t>information</a:t>
            </a:r>
            <a:r>
              <a:rPr spc="30" dirty="0"/>
              <a:t> </a:t>
            </a:r>
            <a:r>
              <a:rPr dirty="0"/>
              <a:t>(although</a:t>
            </a:r>
            <a:r>
              <a:rPr spc="35" dirty="0"/>
              <a:t> </a:t>
            </a:r>
            <a:r>
              <a:rPr dirty="0"/>
              <a:t>there</a:t>
            </a:r>
            <a:r>
              <a:rPr spc="25" dirty="0"/>
              <a:t> </a:t>
            </a:r>
            <a:r>
              <a:rPr dirty="0"/>
              <a:t>are</a:t>
            </a:r>
            <a:r>
              <a:rPr spc="25" dirty="0"/>
              <a:t> </a:t>
            </a:r>
            <a:r>
              <a:rPr dirty="0"/>
              <a:t>options</a:t>
            </a:r>
            <a:r>
              <a:rPr spc="40" dirty="0"/>
              <a:t> </a:t>
            </a:r>
            <a:r>
              <a:rPr dirty="0"/>
              <a:t>for</a:t>
            </a:r>
            <a:r>
              <a:rPr spc="20" dirty="0"/>
              <a:t> </a:t>
            </a:r>
            <a:r>
              <a:rPr dirty="0"/>
              <a:t>compression),</a:t>
            </a:r>
            <a:r>
              <a:rPr spc="25" dirty="0"/>
              <a:t> </a:t>
            </a:r>
            <a:r>
              <a:rPr dirty="0"/>
              <a:t>allowing</a:t>
            </a:r>
            <a:r>
              <a:rPr spc="30" dirty="0"/>
              <a:t> </a:t>
            </a:r>
            <a:r>
              <a:rPr dirty="0"/>
              <a:t>for</a:t>
            </a:r>
            <a:r>
              <a:rPr spc="20" dirty="0"/>
              <a:t> </a:t>
            </a:r>
            <a:r>
              <a:rPr dirty="0"/>
              <a:t>very</a:t>
            </a:r>
            <a:r>
              <a:rPr spc="30" dirty="0"/>
              <a:t> </a:t>
            </a:r>
            <a:r>
              <a:rPr spc="-10" dirty="0"/>
              <a:t>high-quality </a:t>
            </a:r>
            <a:r>
              <a:rPr dirty="0"/>
              <a:t>images</a:t>
            </a:r>
            <a:r>
              <a:rPr spc="375" dirty="0"/>
              <a:t> </a:t>
            </a:r>
            <a:r>
              <a:rPr dirty="0"/>
              <a:t>but</a:t>
            </a:r>
            <a:r>
              <a:rPr spc="380" dirty="0"/>
              <a:t> </a:t>
            </a:r>
            <a:r>
              <a:rPr dirty="0"/>
              <a:t>also</a:t>
            </a:r>
            <a:r>
              <a:rPr spc="380" dirty="0"/>
              <a:t> </a:t>
            </a:r>
            <a:r>
              <a:rPr dirty="0"/>
              <a:t>larger</a:t>
            </a:r>
            <a:r>
              <a:rPr spc="385" dirty="0"/>
              <a:t> </a:t>
            </a:r>
            <a:r>
              <a:rPr dirty="0"/>
              <a:t>file</a:t>
            </a:r>
            <a:r>
              <a:rPr spc="385" dirty="0"/>
              <a:t> </a:t>
            </a:r>
            <a:r>
              <a:rPr dirty="0"/>
              <a:t>sizes.</a:t>
            </a:r>
            <a:r>
              <a:rPr spc="380" dirty="0"/>
              <a:t> </a:t>
            </a:r>
            <a:r>
              <a:rPr b="1" dirty="0">
                <a:latin typeface="Times New Roman"/>
                <a:cs typeface="Times New Roman"/>
              </a:rPr>
              <a:t>Compression:</a:t>
            </a:r>
            <a:r>
              <a:rPr b="1" spc="380" dirty="0">
                <a:latin typeface="Times New Roman"/>
                <a:cs typeface="Times New Roman"/>
              </a:rPr>
              <a:t> </a:t>
            </a:r>
            <a:r>
              <a:rPr dirty="0"/>
              <a:t>Lossless</a:t>
            </a:r>
            <a:r>
              <a:rPr spc="370" dirty="0"/>
              <a:t> </a:t>
            </a:r>
            <a:r>
              <a:rPr dirty="0"/>
              <a:t>-</a:t>
            </a:r>
            <a:r>
              <a:rPr spc="380" dirty="0"/>
              <a:t> </a:t>
            </a:r>
            <a:r>
              <a:rPr dirty="0"/>
              <a:t>no</a:t>
            </a:r>
            <a:r>
              <a:rPr spc="370" dirty="0"/>
              <a:t> </a:t>
            </a:r>
            <a:r>
              <a:rPr dirty="0"/>
              <a:t>compression.</a:t>
            </a:r>
            <a:r>
              <a:rPr spc="395" dirty="0"/>
              <a:t> </a:t>
            </a:r>
            <a:r>
              <a:rPr dirty="0"/>
              <a:t>Very</a:t>
            </a:r>
            <a:r>
              <a:rPr spc="375" dirty="0"/>
              <a:t> </a:t>
            </a:r>
            <a:r>
              <a:rPr spc="-10" dirty="0"/>
              <a:t>high-</a:t>
            </a:r>
            <a:r>
              <a:rPr dirty="0"/>
              <a:t>quality</a:t>
            </a:r>
            <a:r>
              <a:rPr spc="385" dirty="0"/>
              <a:t> </a:t>
            </a:r>
            <a:r>
              <a:rPr dirty="0"/>
              <a:t>images.</a:t>
            </a:r>
            <a:r>
              <a:rPr spc="390" dirty="0"/>
              <a:t> </a:t>
            </a:r>
            <a:r>
              <a:rPr b="1" spc="-20" dirty="0">
                <a:latin typeface="Times New Roman"/>
                <a:cs typeface="Times New Roman"/>
              </a:rPr>
              <a:t>Best </a:t>
            </a:r>
            <a:r>
              <a:rPr b="1" dirty="0">
                <a:latin typeface="Times New Roman"/>
                <a:cs typeface="Times New Roman"/>
              </a:rPr>
              <a:t>For: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quality</a:t>
            </a:r>
            <a:r>
              <a:rPr spc="-15" dirty="0"/>
              <a:t> </a:t>
            </a:r>
            <a:r>
              <a:rPr dirty="0"/>
              <a:t>prints,</a:t>
            </a:r>
            <a:r>
              <a:rPr spc="-20" dirty="0"/>
              <a:t> </a:t>
            </a:r>
            <a:r>
              <a:rPr dirty="0"/>
              <a:t>professional</a:t>
            </a:r>
            <a:r>
              <a:rPr spc="-45" dirty="0"/>
              <a:t> </a:t>
            </a:r>
            <a:r>
              <a:rPr dirty="0"/>
              <a:t>publications,</a:t>
            </a:r>
            <a:r>
              <a:rPr spc="-25" dirty="0"/>
              <a:t> </a:t>
            </a:r>
            <a:r>
              <a:rPr dirty="0"/>
              <a:t>archival</a:t>
            </a:r>
            <a:r>
              <a:rPr spc="-30" dirty="0"/>
              <a:t> </a:t>
            </a:r>
            <a:r>
              <a:rPr spc="-10" dirty="0"/>
              <a:t>copies.</a:t>
            </a:r>
          </a:p>
          <a:p>
            <a:pPr marL="104139" marR="5080" indent="-93980" algn="just">
              <a:lnSpc>
                <a:spcPct val="130000"/>
              </a:lnSpc>
              <a:spcBef>
                <a:spcPts val="1390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104139" algn="l"/>
                <a:tab pos="203835" algn="l"/>
              </a:tabLst>
            </a:pPr>
            <a:r>
              <a:rPr b="1" dirty="0">
                <a:latin typeface="Times New Roman"/>
                <a:cs typeface="Times New Roman"/>
              </a:rPr>
              <a:t>	PNG:</a:t>
            </a:r>
            <a:r>
              <a:rPr b="1" spc="60" dirty="0">
                <a:latin typeface="Times New Roman"/>
                <a:cs typeface="Times New Roman"/>
              </a:rPr>
              <a:t> </a:t>
            </a:r>
            <a:r>
              <a:rPr dirty="0"/>
              <a:t>PNG</a:t>
            </a:r>
            <a:r>
              <a:rPr spc="75" dirty="0"/>
              <a:t> </a:t>
            </a:r>
            <a:r>
              <a:rPr dirty="0"/>
              <a:t>or</a:t>
            </a:r>
            <a:r>
              <a:rPr spc="65" dirty="0"/>
              <a:t> </a:t>
            </a:r>
            <a:r>
              <a:rPr dirty="0"/>
              <a:t>Portable</a:t>
            </a:r>
            <a:r>
              <a:rPr spc="70" dirty="0"/>
              <a:t> </a:t>
            </a:r>
            <a:r>
              <a:rPr dirty="0"/>
              <a:t>Network</a:t>
            </a:r>
            <a:r>
              <a:rPr spc="50" dirty="0"/>
              <a:t> </a:t>
            </a:r>
            <a:r>
              <a:rPr dirty="0"/>
              <a:t>Graphics</a:t>
            </a:r>
            <a:r>
              <a:rPr spc="80" dirty="0"/>
              <a:t> </a:t>
            </a:r>
            <a:r>
              <a:rPr dirty="0"/>
              <a:t>files</a:t>
            </a:r>
            <a:r>
              <a:rPr spc="75" dirty="0"/>
              <a:t> </a:t>
            </a:r>
            <a:r>
              <a:rPr dirty="0"/>
              <a:t>are</a:t>
            </a:r>
            <a:r>
              <a:rPr spc="65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lossless</a:t>
            </a:r>
            <a:r>
              <a:rPr spc="70" dirty="0"/>
              <a:t> </a:t>
            </a:r>
            <a:r>
              <a:rPr dirty="0"/>
              <a:t>image</a:t>
            </a:r>
            <a:r>
              <a:rPr spc="80" dirty="0"/>
              <a:t> </a:t>
            </a:r>
            <a:r>
              <a:rPr dirty="0"/>
              <a:t>format</a:t>
            </a:r>
            <a:r>
              <a:rPr spc="75" dirty="0"/>
              <a:t> </a:t>
            </a:r>
            <a:r>
              <a:rPr dirty="0"/>
              <a:t>originally</a:t>
            </a:r>
            <a:r>
              <a:rPr spc="80" dirty="0"/>
              <a:t> </a:t>
            </a:r>
            <a:r>
              <a:rPr dirty="0"/>
              <a:t>designed</a:t>
            </a:r>
            <a:r>
              <a:rPr spc="80" dirty="0"/>
              <a:t> </a:t>
            </a:r>
            <a:r>
              <a:rPr dirty="0"/>
              <a:t>to</a:t>
            </a:r>
            <a:r>
              <a:rPr spc="80" dirty="0"/>
              <a:t> </a:t>
            </a:r>
            <a:r>
              <a:rPr dirty="0"/>
              <a:t>improve</a:t>
            </a:r>
            <a:r>
              <a:rPr spc="70" dirty="0"/>
              <a:t> </a:t>
            </a:r>
            <a:r>
              <a:rPr spc="-20" dirty="0"/>
              <a:t>upon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replace</a:t>
            </a:r>
            <a:r>
              <a:rPr spc="1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gif</a:t>
            </a:r>
            <a:r>
              <a:rPr spc="10" dirty="0"/>
              <a:t> </a:t>
            </a:r>
            <a:r>
              <a:rPr dirty="0"/>
              <a:t>format.</a:t>
            </a:r>
            <a:r>
              <a:rPr spc="20" dirty="0"/>
              <a:t> </a:t>
            </a:r>
            <a:r>
              <a:rPr dirty="0"/>
              <a:t>PNG</a:t>
            </a:r>
            <a:r>
              <a:rPr spc="15" dirty="0"/>
              <a:t> </a:t>
            </a:r>
            <a:r>
              <a:rPr dirty="0"/>
              <a:t>files</a:t>
            </a:r>
            <a:r>
              <a:rPr spc="5" dirty="0"/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dirty="0"/>
              <a:t>able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handle</a:t>
            </a:r>
            <a:r>
              <a:rPr spc="10" dirty="0"/>
              <a:t> </a:t>
            </a:r>
            <a:r>
              <a:rPr dirty="0"/>
              <a:t>up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16</a:t>
            </a:r>
            <a:r>
              <a:rPr spc="10" dirty="0"/>
              <a:t> </a:t>
            </a:r>
            <a:r>
              <a:rPr dirty="0"/>
              <a:t>million</a:t>
            </a:r>
            <a:r>
              <a:rPr spc="10" dirty="0"/>
              <a:t> </a:t>
            </a:r>
            <a:r>
              <a:rPr dirty="0"/>
              <a:t>colors,</a:t>
            </a:r>
            <a:r>
              <a:rPr spc="10" dirty="0"/>
              <a:t> </a:t>
            </a:r>
            <a:r>
              <a:rPr dirty="0"/>
              <a:t>unlike</a:t>
            </a:r>
            <a:r>
              <a:rPr spc="-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256</a:t>
            </a:r>
            <a:r>
              <a:rPr spc="-5" dirty="0"/>
              <a:t> </a:t>
            </a:r>
            <a:r>
              <a:rPr dirty="0"/>
              <a:t>colors</a:t>
            </a:r>
            <a:r>
              <a:rPr spc="10" dirty="0"/>
              <a:t> </a:t>
            </a:r>
            <a:r>
              <a:rPr dirty="0"/>
              <a:t>supported</a:t>
            </a:r>
            <a:r>
              <a:rPr spc="10" dirty="0"/>
              <a:t> </a:t>
            </a:r>
            <a:r>
              <a:rPr spc="-25" dirty="0"/>
              <a:t>by </a:t>
            </a:r>
            <a:r>
              <a:rPr spc="-20" dirty="0"/>
              <a:t>GIF.</a:t>
            </a:r>
            <a:r>
              <a:rPr spc="-40" dirty="0"/>
              <a:t> </a:t>
            </a:r>
            <a:r>
              <a:rPr b="1" dirty="0">
                <a:latin typeface="Times New Roman"/>
                <a:cs typeface="Times New Roman"/>
              </a:rPr>
              <a:t>Compression:</a:t>
            </a:r>
            <a:r>
              <a:rPr b="1" spc="360" dirty="0">
                <a:latin typeface="Times New Roman"/>
                <a:cs typeface="Times New Roman"/>
              </a:rPr>
              <a:t> </a:t>
            </a:r>
            <a:r>
              <a:rPr dirty="0"/>
              <a:t>Lossless</a:t>
            </a:r>
            <a:r>
              <a:rPr spc="-3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compression</a:t>
            </a:r>
            <a:r>
              <a:rPr spc="-35" dirty="0"/>
              <a:t> </a:t>
            </a:r>
            <a:r>
              <a:rPr dirty="0"/>
              <a:t>without</a:t>
            </a:r>
            <a:r>
              <a:rPr spc="-40" dirty="0"/>
              <a:t> </a:t>
            </a:r>
            <a:r>
              <a:rPr dirty="0"/>
              <a:t>loss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quality</a:t>
            </a:r>
            <a:r>
              <a:rPr spc="-20" dirty="0"/>
              <a:t> </a:t>
            </a:r>
            <a:r>
              <a:rPr b="1" dirty="0">
                <a:latin typeface="Times New Roman"/>
                <a:cs typeface="Times New Roman"/>
              </a:rPr>
              <a:t>Best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For: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spc="-35" dirty="0"/>
              <a:t>Web</a:t>
            </a:r>
            <a:r>
              <a:rPr spc="-55" dirty="0"/>
              <a:t> </a:t>
            </a:r>
            <a:r>
              <a:rPr spc="-10" dirty="0"/>
              <a:t>Images.</a:t>
            </a:r>
          </a:p>
          <a:p>
            <a:pPr marL="104139" marR="6985" indent="-93980" algn="just">
              <a:lnSpc>
                <a:spcPct val="130000"/>
              </a:lnSpc>
              <a:spcBef>
                <a:spcPts val="1405"/>
              </a:spcBef>
              <a:buClr>
                <a:srgbClr val="E38312"/>
              </a:buClr>
              <a:buSzPct val="94117"/>
              <a:buFont typeface="Wingdings"/>
              <a:buChar char=""/>
              <a:tabLst>
                <a:tab pos="104139" algn="l"/>
                <a:tab pos="203835" algn="l"/>
              </a:tabLst>
            </a:pPr>
            <a:r>
              <a:rPr b="1" dirty="0">
                <a:latin typeface="Times New Roman"/>
                <a:cs typeface="Times New Roman"/>
              </a:rPr>
              <a:t>	EPS:</a:t>
            </a:r>
            <a:r>
              <a:rPr b="1" spc="160" dirty="0">
                <a:latin typeface="Times New Roman"/>
                <a:cs typeface="Times New Roman"/>
              </a:rPr>
              <a:t> </a:t>
            </a:r>
            <a:r>
              <a:rPr dirty="0"/>
              <a:t>An</a:t>
            </a:r>
            <a:r>
              <a:rPr spc="165" dirty="0"/>
              <a:t> </a:t>
            </a:r>
            <a:r>
              <a:rPr dirty="0"/>
              <a:t>EPS</a:t>
            </a:r>
            <a:r>
              <a:rPr spc="185" dirty="0"/>
              <a:t> </a:t>
            </a:r>
            <a:r>
              <a:rPr dirty="0"/>
              <a:t>or</a:t>
            </a:r>
            <a:r>
              <a:rPr spc="160" dirty="0"/>
              <a:t> </a:t>
            </a:r>
            <a:r>
              <a:rPr dirty="0"/>
              <a:t>Encapsulated</a:t>
            </a:r>
            <a:r>
              <a:rPr spc="170" dirty="0"/>
              <a:t> </a:t>
            </a:r>
            <a:r>
              <a:rPr dirty="0"/>
              <a:t>PostScript</a:t>
            </a:r>
            <a:r>
              <a:rPr spc="175" dirty="0"/>
              <a:t> </a:t>
            </a:r>
            <a:r>
              <a:rPr dirty="0"/>
              <a:t>file</a:t>
            </a:r>
            <a:r>
              <a:rPr spc="175" dirty="0"/>
              <a:t> </a:t>
            </a:r>
            <a:r>
              <a:rPr dirty="0"/>
              <a:t>is</a:t>
            </a:r>
            <a:r>
              <a:rPr spc="175" dirty="0"/>
              <a:t> </a:t>
            </a:r>
            <a:r>
              <a:rPr dirty="0"/>
              <a:t>a</a:t>
            </a:r>
            <a:r>
              <a:rPr spc="170" dirty="0"/>
              <a:t> </a:t>
            </a:r>
            <a:r>
              <a:rPr dirty="0"/>
              <a:t>common</a:t>
            </a:r>
            <a:r>
              <a:rPr spc="165" dirty="0"/>
              <a:t> </a:t>
            </a:r>
            <a:r>
              <a:rPr dirty="0"/>
              <a:t>vector</a:t>
            </a:r>
            <a:r>
              <a:rPr spc="175" dirty="0"/>
              <a:t> </a:t>
            </a:r>
            <a:r>
              <a:rPr dirty="0"/>
              <a:t>file</a:t>
            </a:r>
            <a:r>
              <a:rPr spc="180" dirty="0"/>
              <a:t> </a:t>
            </a:r>
            <a:r>
              <a:rPr dirty="0"/>
              <a:t>type.</a:t>
            </a:r>
            <a:r>
              <a:rPr spc="170" dirty="0"/>
              <a:t> </a:t>
            </a:r>
            <a:r>
              <a:rPr dirty="0"/>
              <a:t>EPS</a:t>
            </a:r>
            <a:r>
              <a:rPr spc="180" dirty="0"/>
              <a:t> </a:t>
            </a:r>
            <a:r>
              <a:rPr dirty="0"/>
              <a:t>files</a:t>
            </a:r>
            <a:r>
              <a:rPr spc="175" dirty="0"/>
              <a:t> </a:t>
            </a:r>
            <a:r>
              <a:rPr dirty="0"/>
              <a:t>can</a:t>
            </a:r>
            <a:r>
              <a:rPr spc="165" dirty="0"/>
              <a:t> </a:t>
            </a:r>
            <a:r>
              <a:rPr dirty="0"/>
              <a:t>be</a:t>
            </a:r>
            <a:r>
              <a:rPr spc="165" dirty="0"/>
              <a:t> </a:t>
            </a:r>
            <a:r>
              <a:rPr dirty="0"/>
              <a:t>opened</a:t>
            </a:r>
            <a:r>
              <a:rPr spc="170" dirty="0"/>
              <a:t> </a:t>
            </a:r>
            <a:r>
              <a:rPr dirty="0"/>
              <a:t>in</a:t>
            </a:r>
            <a:r>
              <a:rPr spc="180" dirty="0"/>
              <a:t> </a:t>
            </a:r>
            <a:r>
              <a:rPr spc="-20" dirty="0"/>
              <a:t>many </a:t>
            </a:r>
            <a:r>
              <a:rPr dirty="0"/>
              <a:t>illustration</a:t>
            </a:r>
            <a:r>
              <a:rPr spc="80" dirty="0"/>
              <a:t> </a:t>
            </a:r>
            <a:r>
              <a:rPr dirty="0"/>
              <a:t>applications</a:t>
            </a:r>
            <a:r>
              <a:rPr spc="90" dirty="0"/>
              <a:t> </a:t>
            </a:r>
            <a:r>
              <a:rPr dirty="0"/>
              <a:t>such</a:t>
            </a:r>
            <a:r>
              <a:rPr spc="90" dirty="0"/>
              <a:t> </a:t>
            </a:r>
            <a:r>
              <a:rPr dirty="0"/>
              <a:t>as</a:t>
            </a:r>
            <a:r>
              <a:rPr spc="75" dirty="0"/>
              <a:t> </a:t>
            </a:r>
            <a:r>
              <a:rPr dirty="0"/>
              <a:t>Adobe</a:t>
            </a:r>
            <a:r>
              <a:rPr spc="90" dirty="0"/>
              <a:t> </a:t>
            </a:r>
            <a:r>
              <a:rPr dirty="0"/>
              <a:t>Illustrator</a:t>
            </a:r>
            <a:r>
              <a:rPr spc="85" dirty="0"/>
              <a:t> </a:t>
            </a:r>
            <a:r>
              <a:rPr dirty="0"/>
              <a:t>or</a:t>
            </a:r>
            <a:r>
              <a:rPr spc="85" dirty="0"/>
              <a:t> </a:t>
            </a:r>
            <a:r>
              <a:rPr spc="-20" dirty="0"/>
              <a:t>CorelDRAW.</a:t>
            </a:r>
            <a:r>
              <a:rPr spc="70" dirty="0"/>
              <a:t> </a:t>
            </a:r>
            <a:r>
              <a:rPr b="1" dirty="0">
                <a:latin typeface="Times New Roman"/>
                <a:cs typeface="Times New Roman"/>
              </a:rPr>
              <a:t>Compression:</a:t>
            </a:r>
            <a:r>
              <a:rPr b="1" spc="85" dirty="0">
                <a:latin typeface="Times New Roman"/>
                <a:cs typeface="Times New Roman"/>
              </a:rPr>
              <a:t> </a:t>
            </a:r>
            <a:r>
              <a:rPr dirty="0"/>
              <a:t>None</a:t>
            </a:r>
            <a:r>
              <a:rPr spc="90" dirty="0"/>
              <a:t> </a:t>
            </a:r>
            <a:r>
              <a:rPr dirty="0"/>
              <a:t>-</a:t>
            </a:r>
            <a:r>
              <a:rPr spc="85" dirty="0"/>
              <a:t> </a:t>
            </a:r>
            <a:r>
              <a:rPr dirty="0"/>
              <a:t>uses</a:t>
            </a:r>
            <a:r>
              <a:rPr spc="85" dirty="0"/>
              <a:t> </a:t>
            </a:r>
            <a:r>
              <a:rPr dirty="0"/>
              <a:t>vector</a:t>
            </a:r>
            <a:r>
              <a:rPr spc="85" dirty="0"/>
              <a:t> </a:t>
            </a:r>
            <a:r>
              <a:rPr spc="-10" dirty="0"/>
              <a:t>information </a:t>
            </a:r>
            <a:r>
              <a:rPr b="1" dirty="0">
                <a:latin typeface="Times New Roman"/>
                <a:cs typeface="Times New Roman"/>
              </a:rPr>
              <a:t>Best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For: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spc="-25" dirty="0"/>
              <a:t>Vector</a:t>
            </a:r>
            <a:r>
              <a:rPr spc="-40" dirty="0"/>
              <a:t> </a:t>
            </a:r>
            <a:r>
              <a:rPr dirty="0"/>
              <a:t>artwork,</a:t>
            </a:r>
            <a:r>
              <a:rPr spc="-25" dirty="0"/>
              <a:t> </a:t>
            </a:r>
            <a:r>
              <a:rPr spc="-10" dirty="0"/>
              <a:t>illustrations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9173" y="3327272"/>
            <a:ext cx="41402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>
                <a:solidFill>
                  <a:srgbClr val="252525"/>
                </a:solidFill>
              </a:rPr>
              <a:t>Thank</a:t>
            </a:r>
            <a:r>
              <a:rPr sz="6000" spc="-330" dirty="0">
                <a:solidFill>
                  <a:srgbClr val="252525"/>
                </a:solidFill>
              </a:rPr>
              <a:t> </a:t>
            </a:r>
            <a:r>
              <a:rPr sz="6000" spc="-670" dirty="0">
                <a:solidFill>
                  <a:srgbClr val="252525"/>
                </a:solidFill>
              </a:rPr>
              <a:t>Y</a:t>
            </a:r>
            <a:r>
              <a:rPr sz="6000" spc="-60" dirty="0">
                <a:solidFill>
                  <a:srgbClr val="252525"/>
                </a:solidFill>
              </a:rPr>
              <a:t>o</a:t>
            </a:r>
            <a:r>
              <a:rPr sz="6000" spc="-10" dirty="0">
                <a:solidFill>
                  <a:srgbClr val="252525"/>
                </a:solidFill>
              </a:rPr>
              <a:t>u</a:t>
            </a:r>
            <a:r>
              <a:rPr sz="6000" spc="-114" dirty="0">
                <a:solidFill>
                  <a:srgbClr val="252525"/>
                </a:solidFill>
              </a:rPr>
              <a:t> </a:t>
            </a:r>
            <a:r>
              <a:rPr sz="6000" spc="-50" dirty="0">
                <a:solidFill>
                  <a:srgbClr val="252525"/>
                </a:solidFill>
                <a:latin typeface="Wingdings"/>
                <a:cs typeface="Wingdings"/>
              </a:rPr>
              <a:t></a:t>
            </a:r>
            <a:endParaRPr sz="6000" dirty="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Words>2509</Words>
  <Application>Microsoft Office PowerPoint</Application>
  <PresentationFormat>Widescreen</PresentationFormat>
  <Paragraphs>343</Paragraphs>
  <Slides>37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 MT</vt:lpstr>
      <vt:lpstr>Cambria Math</vt:lpstr>
      <vt:lpstr>Times New Roman</vt:lpstr>
      <vt:lpstr>Wingdings</vt:lpstr>
      <vt:lpstr>Office Theme</vt:lpstr>
      <vt:lpstr>PowerPoint Presentation</vt:lpstr>
      <vt:lpstr>Digital Image Processing</vt:lpstr>
      <vt:lpstr>What is an Image?</vt:lpstr>
      <vt:lpstr>What is an Image?</vt:lpstr>
      <vt:lpstr>Digital Image</vt:lpstr>
      <vt:lpstr>Digital Image(Cont’d)</vt:lpstr>
      <vt:lpstr>Pixel</vt:lpstr>
      <vt:lpstr>Gray Level</vt:lpstr>
      <vt:lpstr>Bits Per Pixel</vt:lpstr>
      <vt:lpstr>Image Processing</vt:lpstr>
      <vt:lpstr>Purpose of Image Processing</vt:lpstr>
      <vt:lpstr>Level of Processing in DIP</vt:lpstr>
      <vt:lpstr>Image Processing Environment</vt:lpstr>
      <vt:lpstr>Types of Imaging</vt:lpstr>
      <vt:lpstr>Reflective Mode Imaging</vt:lpstr>
      <vt:lpstr>Emissive Type Imaging</vt:lpstr>
      <vt:lpstr>Transmissive Type Imaging</vt:lpstr>
      <vt:lpstr>Challenges in Image Processing</vt:lpstr>
      <vt:lpstr>Image Processing and Related Fields</vt:lpstr>
      <vt:lpstr>Elements of Digital Image Processing Systems</vt:lpstr>
      <vt:lpstr>Fundamental Steps in Digital Image Processing</vt:lpstr>
      <vt:lpstr>Image Acquisition</vt:lpstr>
      <vt:lpstr>Image Enhancement</vt:lpstr>
      <vt:lpstr>Image Restoration</vt:lpstr>
      <vt:lpstr>Color Image Processing</vt:lpstr>
      <vt:lpstr>Morphological Processing</vt:lpstr>
      <vt:lpstr>Segmentation</vt:lpstr>
      <vt:lpstr>Object Recognition</vt:lpstr>
      <vt:lpstr>Image Compression</vt:lpstr>
      <vt:lpstr>Components of an Image Processing System</vt:lpstr>
      <vt:lpstr>Image Types</vt:lpstr>
      <vt:lpstr>Types of Images based on Attributes</vt:lpstr>
      <vt:lpstr>Types of Images based on Color</vt:lpstr>
      <vt:lpstr>Types of Images based on Dimensions</vt:lpstr>
      <vt:lpstr>Image Formats</vt:lpstr>
      <vt:lpstr>Image Formats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Mahedy Hasan</dc:creator>
  <cp:lastModifiedBy>Md Manirujjaman</cp:lastModifiedBy>
  <cp:revision>4</cp:revision>
  <dcterms:created xsi:type="dcterms:W3CDTF">2025-09-04T00:25:59Z</dcterms:created>
  <dcterms:modified xsi:type="dcterms:W3CDTF">2026-01-08T16:08:00Z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2025-09-04T00:00:00Z</vt:filetime>
  </property>
  <property fmtid="{D5CDD505-2E9C-101B-9397-08002B2CF9AE}" pid="5" name="Producer">
    <vt:lpwstr>Microsoft® PowerPoint® 2016</vt:lpwstr>
  </property>
</Properties>
</file>